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Times New Roman" charset="1" panose="02020603050405020304"/>
      <p:regular r:id="rId21"/>
    </p:embeddedFont>
    <p:embeddedFont>
      <p:font typeface="Arimo" charset="1" panose="020B0604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2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fonts/font24.fntdata" Type="http://schemas.openxmlformats.org/officeDocument/2006/relationships/font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7.jpe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Relationship Id="rId7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2" Target="../notesSlides/notesSlide6.xml" Type="http://schemas.openxmlformats.org/officeDocument/2006/relationships/notesSlid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svg" Type="http://schemas.openxmlformats.org/officeDocument/2006/relationships/image"/><Relationship Id="rId11" Target="../media/image28.png" Type="http://schemas.openxmlformats.org/officeDocument/2006/relationships/image"/><Relationship Id="rId12" Target="../media/image29.svg" Type="http://schemas.openxmlformats.org/officeDocument/2006/relationships/image"/><Relationship Id="rId13" Target="../media/image30.png" Type="http://schemas.openxmlformats.org/officeDocument/2006/relationships/image"/><Relationship Id="rId14" Target="../media/image31.svg" Type="http://schemas.openxmlformats.org/officeDocument/2006/relationships/image"/><Relationship Id="rId15" Target="../media/image32.png" Type="http://schemas.openxmlformats.org/officeDocument/2006/relationships/image"/><Relationship Id="rId16" Target="../media/image33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20.png" Type="http://schemas.openxmlformats.org/officeDocument/2006/relationships/image"/><Relationship Id="rId4" Target="../media/image21.svg" Type="http://schemas.openxmlformats.org/officeDocument/2006/relationships/image"/><Relationship Id="rId5" Target="../media/image22.png" Type="http://schemas.openxmlformats.org/officeDocument/2006/relationships/image"/><Relationship Id="rId6" Target="../media/image23.svg" Type="http://schemas.openxmlformats.org/officeDocument/2006/relationships/image"/><Relationship Id="rId7" Target="../media/image24.png" Type="http://schemas.openxmlformats.org/officeDocument/2006/relationships/image"/><Relationship Id="rId8" Target="../media/image25.svg" Type="http://schemas.openxmlformats.org/officeDocument/2006/relationships/image"/><Relationship Id="rId9" Target="../media/image2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png" Type="http://schemas.openxmlformats.org/officeDocument/2006/relationships/image"/><Relationship Id="rId11" Target="../media/image43.svg" Type="http://schemas.openxmlformats.org/officeDocument/2006/relationships/image"/><Relationship Id="rId2" Target="../notesSlides/notesSlide8.xml" Type="http://schemas.openxmlformats.org/officeDocument/2006/relationships/notesSlide"/><Relationship Id="rId3" Target="../media/image35.jpe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media/image40.png" Type="http://schemas.openxmlformats.org/officeDocument/2006/relationships/image"/><Relationship Id="rId9" Target="../media/image4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4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24568" y="3447286"/>
            <a:ext cx="3563412" cy="6839734"/>
          </a:xfrm>
          <a:custGeom>
            <a:avLst/>
            <a:gdLst/>
            <a:ahLst/>
            <a:cxnLst/>
            <a:rect r="r" b="b" t="t" l="l"/>
            <a:pathLst>
              <a:path h="6839734" w="3563412">
                <a:moveTo>
                  <a:pt x="0" y="0"/>
                </a:moveTo>
                <a:lnTo>
                  <a:pt x="3563412" y="0"/>
                </a:lnTo>
                <a:lnTo>
                  <a:pt x="3563412" y="6839734"/>
                </a:lnTo>
                <a:lnTo>
                  <a:pt x="0" y="6839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924764" y="0"/>
            <a:ext cx="5443736" cy="774840"/>
            <a:chOff x="0" y="0"/>
            <a:chExt cx="7258315" cy="10331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" y="127"/>
              <a:ext cx="7258177" cy="1032764"/>
            </a:xfrm>
            <a:custGeom>
              <a:avLst/>
              <a:gdLst/>
              <a:ahLst/>
              <a:cxnLst/>
              <a:rect r="r" b="b" t="t" l="l"/>
              <a:pathLst>
                <a:path h="1032764" w="7258177">
                  <a:moveTo>
                    <a:pt x="0" y="0"/>
                  </a:moveTo>
                  <a:lnTo>
                    <a:pt x="0" y="1032764"/>
                  </a:lnTo>
                  <a:lnTo>
                    <a:pt x="7258177" y="1032764"/>
                  </a:lnTo>
                  <a:lnTo>
                    <a:pt x="7258177" y="0"/>
                  </a:lnTo>
                  <a:close/>
                </a:path>
              </a:pathLst>
            </a:custGeom>
            <a:solidFill>
              <a:srgbClr val="00FFC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47626" y="0"/>
            <a:ext cx="1329294" cy="774840"/>
            <a:chOff x="0" y="0"/>
            <a:chExt cx="1772392" cy="1033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" y="127"/>
              <a:ext cx="1772031" cy="1032764"/>
            </a:xfrm>
            <a:custGeom>
              <a:avLst/>
              <a:gdLst/>
              <a:ahLst/>
              <a:cxnLst/>
              <a:rect r="r" b="b" t="t" l="l"/>
              <a:pathLst>
                <a:path h="1032764" w="1772031">
                  <a:moveTo>
                    <a:pt x="0" y="0"/>
                  </a:moveTo>
                  <a:lnTo>
                    <a:pt x="0" y="1032764"/>
                  </a:lnTo>
                  <a:lnTo>
                    <a:pt x="1772031" y="1032764"/>
                  </a:lnTo>
                  <a:lnTo>
                    <a:pt x="1772031" y="0"/>
                  </a:lnTo>
                  <a:close/>
                </a:path>
              </a:pathLst>
            </a:custGeom>
            <a:solidFill>
              <a:srgbClr val="EC008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098268" y="1877232"/>
            <a:ext cx="424196" cy="771552"/>
            <a:chOff x="0" y="0"/>
            <a:chExt cx="565595" cy="1028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" y="127"/>
              <a:ext cx="565277" cy="1028573"/>
            </a:xfrm>
            <a:custGeom>
              <a:avLst/>
              <a:gdLst/>
              <a:ahLst/>
              <a:cxnLst/>
              <a:rect r="r" b="b" t="t" l="l"/>
              <a:pathLst>
                <a:path h="1028573" w="565277">
                  <a:moveTo>
                    <a:pt x="408813" y="0"/>
                  </a:moveTo>
                  <a:lnTo>
                    <a:pt x="0" y="963168"/>
                  </a:lnTo>
                  <a:lnTo>
                    <a:pt x="154432" y="1028573"/>
                  </a:lnTo>
                  <a:lnTo>
                    <a:pt x="565277" y="67437"/>
                  </a:lnTo>
                  <a:lnTo>
                    <a:pt x="408813" y="0"/>
                  </a:lnTo>
                  <a:close/>
                </a:path>
              </a:pathLst>
            </a:custGeom>
            <a:solidFill>
              <a:srgbClr val="00FFC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47626" y="2017490"/>
            <a:ext cx="334480" cy="491038"/>
            <a:chOff x="0" y="0"/>
            <a:chExt cx="445973" cy="6547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" y="127"/>
              <a:ext cx="445897" cy="654558"/>
            </a:xfrm>
            <a:custGeom>
              <a:avLst/>
              <a:gdLst/>
              <a:ahLst/>
              <a:cxnLst/>
              <a:rect r="r" b="b" t="t" l="l"/>
              <a:pathLst>
                <a:path h="654558" w="445897">
                  <a:moveTo>
                    <a:pt x="326263" y="0"/>
                  </a:moveTo>
                  <a:lnTo>
                    <a:pt x="0" y="326263"/>
                  </a:lnTo>
                  <a:lnTo>
                    <a:pt x="326263" y="654558"/>
                  </a:lnTo>
                  <a:lnTo>
                    <a:pt x="445897" y="534924"/>
                  </a:lnTo>
                  <a:lnTo>
                    <a:pt x="237109" y="326263"/>
                  </a:lnTo>
                  <a:lnTo>
                    <a:pt x="445897" y="119634"/>
                  </a:lnTo>
                  <a:lnTo>
                    <a:pt x="326263" y="0"/>
                  </a:lnTo>
                  <a:close/>
                </a:path>
              </a:pathLst>
            </a:custGeom>
            <a:solidFill>
              <a:srgbClr val="00FFC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536984" y="2017490"/>
            <a:ext cx="336124" cy="491038"/>
            <a:chOff x="0" y="0"/>
            <a:chExt cx="448165" cy="6547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27"/>
              <a:ext cx="447929" cy="654558"/>
            </a:xfrm>
            <a:custGeom>
              <a:avLst/>
              <a:gdLst/>
              <a:ahLst/>
              <a:cxnLst/>
              <a:rect r="r" b="b" t="t" l="l"/>
              <a:pathLst>
                <a:path h="654558" w="447929">
                  <a:moveTo>
                    <a:pt x="119634" y="0"/>
                  </a:moveTo>
                  <a:lnTo>
                    <a:pt x="0" y="119634"/>
                  </a:lnTo>
                  <a:lnTo>
                    <a:pt x="208788" y="326263"/>
                  </a:lnTo>
                  <a:lnTo>
                    <a:pt x="0" y="534924"/>
                  </a:lnTo>
                  <a:lnTo>
                    <a:pt x="119634" y="654558"/>
                  </a:lnTo>
                  <a:lnTo>
                    <a:pt x="447929" y="326263"/>
                  </a:lnTo>
                  <a:lnTo>
                    <a:pt x="119634" y="0"/>
                  </a:lnTo>
                  <a:close/>
                </a:path>
              </a:pathLst>
            </a:custGeom>
            <a:solidFill>
              <a:srgbClr val="00FFC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032040" y="9967194"/>
            <a:ext cx="2108790" cy="319824"/>
            <a:chOff x="0" y="0"/>
            <a:chExt cx="2811720" cy="426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" y="127"/>
              <a:ext cx="2811399" cy="426339"/>
            </a:xfrm>
            <a:custGeom>
              <a:avLst/>
              <a:gdLst/>
              <a:ahLst/>
              <a:cxnLst/>
              <a:rect r="r" b="b" t="t" l="l"/>
              <a:pathLst>
                <a:path h="426339" w="2811399">
                  <a:moveTo>
                    <a:pt x="0" y="0"/>
                  </a:moveTo>
                  <a:lnTo>
                    <a:pt x="0" y="426339"/>
                  </a:lnTo>
                  <a:lnTo>
                    <a:pt x="2811399" y="426339"/>
                  </a:lnTo>
                  <a:lnTo>
                    <a:pt x="2811399" y="0"/>
                  </a:lnTo>
                  <a:close/>
                </a:path>
              </a:pathLst>
            </a:custGeom>
            <a:solidFill>
              <a:srgbClr val="00FFC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20682" y="9967194"/>
            <a:ext cx="4305378" cy="319824"/>
            <a:chOff x="0" y="0"/>
            <a:chExt cx="5740504" cy="4264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127"/>
              <a:ext cx="5740527" cy="426339"/>
            </a:xfrm>
            <a:custGeom>
              <a:avLst/>
              <a:gdLst/>
              <a:ahLst/>
              <a:cxnLst/>
              <a:rect r="r" b="b" t="t" l="l"/>
              <a:pathLst>
                <a:path h="426339" w="5740527">
                  <a:moveTo>
                    <a:pt x="0" y="0"/>
                  </a:moveTo>
                  <a:lnTo>
                    <a:pt x="0" y="426339"/>
                  </a:lnTo>
                  <a:lnTo>
                    <a:pt x="5740527" y="426339"/>
                  </a:lnTo>
                  <a:lnTo>
                    <a:pt x="5740527" y="0"/>
                  </a:lnTo>
                  <a:close/>
                </a:path>
              </a:pathLst>
            </a:custGeom>
            <a:solidFill>
              <a:srgbClr val="EC008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610666" y="8904034"/>
            <a:ext cx="7501846" cy="321332"/>
            <a:chOff x="0" y="0"/>
            <a:chExt cx="10002461" cy="4284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02266" cy="428498"/>
            </a:xfrm>
            <a:custGeom>
              <a:avLst/>
              <a:gdLst/>
              <a:ahLst/>
              <a:cxnLst/>
              <a:rect r="r" b="b" t="t" l="l"/>
              <a:pathLst>
                <a:path h="428498" w="10002266">
                  <a:moveTo>
                    <a:pt x="0" y="0"/>
                  </a:moveTo>
                  <a:lnTo>
                    <a:pt x="0" y="428498"/>
                  </a:lnTo>
                  <a:lnTo>
                    <a:pt x="10002266" y="428498"/>
                  </a:lnTo>
                  <a:lnTo>
                    <a:pt x="10002266" y="0"/>
                  </a:lnTo>
                  <a:close/>
                </a:path>
              </a:pathLst>
            </a:custGeom>
            <a:solidFill>
              <a:srgbClr val="EC008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0" y="8904034"/>
            <a:ext cx="2981290" cy="321332"/>
            <a:chOff x="0" y="0"/>
            <a:chExt cx="3975053" cy="4284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" y="0"/>
              <a:ext cx="3974719" cy="428498"/>
            </a:xfrm>
            <a:custGeom>
              <a:avLst/>
              <a:gdLst/>
              <a:ahLst/>
              <a:cxnLst/>
              <a:rect r="r" b="b" t="t" l="l"/>
              <a:pathLst>
                <a:path h="428498" w="3974719">
                  <a:moveTo>
                    <a:pt x="0" y="0"/>
                  </a:moveTo>
                  <a:lnTo>
                    <a:pt x="0" y="428498"/>
                  </a:lnTo>
                  <a:lnTo>
                    <a:pt x="3974719" y="428498"/>
                  </a:lnTo>
                  <a:lnTo>
                    <a:pt x="397471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92186" y="9435614"/>
            <a:ext cx="6436906" cy="321468"/>
            <a:chOff x="0" y="0"/>
            <a:chExt cx="8582541" cy="4286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127"/>
              <a:ext cx="8582406" cy="428371"/>
            </a:xfrm>
            <a:custGeom>
              <a:avLst/>
              <a:gdLst/>
              <a:ahLst/>
              <a:cxnLst/>
              <a:rect r="r" b="b" t="t" l="l"/>
              <a:pathLst>
                <a:path h="428371" w="8582406">
                  <a:moveTo>
                    <a:pt x="0" y="0"/>
                  </a:moveTo>
                  <a:lnTo>
                    <a:pt x="0" y="428371"/>
                  </a:lnTo>
                  <a:lnTo>
                    <a:pt x="8582406" y="428371"/>
                  </a:lnTo>
                  <a:lnTo>
                    <a:pt x="8582406" y="0"/>
                  </a:lnTo>
                  <a:close/>
                </a:path>
              </a:pathLst>
            </a:custGeom>
            <a:solidFill>
              <a:srgbClr val="00FFC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0" y="9435614"/>
            <a:ext cx="729092" cy="321468"/>
            <a:chOff x="0" y="0"/>
            <a:chExt cx="972123" cy="4286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" y="127"/>
              <a:ext cx="972058" cy="428371"/>
            </a:xfrm>
            <a:custGeom>
              <a:avLst/>
              <a:gdLst/>
              <a:ahLst/>
              <a:cxnLst/>
              <a:rect r="r" b="b" t="t" l="l"/>
              <a:pathLst>
                <a:path h="428371" w="972058">
                  <a:moveTo>
                    <a:pt x="0" y="0"/>
                  </a:moveTo>
                  <a:lnTo>
                    <a:pt x="0" y="428371"/>
                  </a:lnTo>
                  <a:lnTo>
                    <a:pt x="972058" y="428371"/>
                  </a:lnTo>
                  <a:lnTo>
                    <a:pt x="972058" y="0"/>
                  </a:lnTo>
                  <a:close/>
                </a:path>
              </a:pathLst>
            </a:custGeom>
            <a:solidFill>
              <a:srgbClr val="EC008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0" y="9967194"/>
            <a:ext cx="1657064" cy="319824"/>
            <a:chOff x="0" y="0"/>
            <a:chExt cx="2209419" cy="4264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27" y="127"/>
              <a:ext cx="2209292" cy="426339"/>
            </a:xfrm>
            <a:custGeom>
              <a:avLst/>
              <a:gdLst/>
              <a:ahLst/>
              <a:cxnLst/>
              <a:rect r="r" b="b" t="t" l="l"/>
              <a:pathLst>
                <a:path h="426339" w="2209292">
                  <a:moveTo>
                    <a:pt x="0" y="0"/>
                  </a:moveTo>
                  <a:lnTo>
                    <a:pt x="0" y="426339"/>
                  </a:lnTo>
                  <a:lnTo>
                    <a:pt x="2209292" y="426339"/>
                  </a:lnTo>
                  <a:lnTo>
                    <a:pt x="220929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629525" y="2671255"/>
            <a:ext cx="16858350" cy="5575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07"/>
              </a:lnSpc>
            </a:pPr>
            <a:r>
              <a:rPr lang="en-US" b="true" sz="14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Boas práticas de programação em </a:t>
            </a:r>
            <a:r>
              <a:rPr lang="en-US" b="true" sz="14800">
                <a:solidFill>
                  <a:srgbClr val="38B6FF"/>
                </a:solidFill>
                <a:latin typeface="Arimo Bold"/>
                <a:ea typeface="Arimo Bold"/>
                <a:cs typeface="Arimo Bold"/>
                <a:sym typeface="Arimo Bold"/>
              </a:rPr>
              <a:t>Py</a:t>
            </a:r>
            <a:r>
              <a:rPr lang="en-US" b="true" sz="14800">
                <a:solidFill>
                  <a:srgbClr val="FFDE59"/>
                </a:solidFill>
                <a:latin typeface="Arimo Bold"/>
                <a:ea typeface="Arimo Bold"/>
                <a:cs typeface="Arimo Bold"/>
                <a:sym typeface="Arimo Bold"/>
              </a:rPr>
              <a:t>thon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4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47525" y="104432"/>
            <a:ext cx="2502193" cy="2502193"/>
          </a:xfrm>
          <a:custGeom>
            <a:avLst/>
            <a:gdLst/>
            <a:ahLst/>
            <a:cxnLst/>
            <a:rect r="r" b="b" t="t" l="l"/>
            <a:pathLst>
              <a:path h="2502193" w="2502193">
                <a:moveTo>
                  <a:pt x="0" y="0"/>
                </a:moveTo>
                <a:lnTo>
                  <a:pt x="2502193" y="0"/>
                </a:lnTo>
                <a:lnTo>
                  <a:pt x="2502193" y="2502193"/>
                </a:lnTo>
                <a:lnTo>
                  <a:pt x="0" y="25021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275608" y="7070882"/>
            <a:ext cx="2730134" cy="2921621"/>
          </a:xfrm>
          <a:custGeom>
            <a:avLst/>
            <a:gdLst/>
            <a:ahLst/>
            <a:cxnLst/>
            <a:rect r="r" b="b" t="t" l="l"/>
            <a:pathLst>
              <a:path h="2921621" w="2730134">
                <a:moveTo>
                  <a:pt x="0" y="0"/>
                </a:moveTo>
                <a:lnTo>
                  <a:pt x="2730134" y="0"/>
                </a:lnTo>
                <a:lnTo>
                  <a:pt x="2730134" y="2921621"/>
                </a:lnTo>
                <a:lnTo>
                  <a:pt x="0" y="29216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367" r="0" b="-2588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647525" y="749250"/>
            <a:ext cx="12993150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FFC5"/>
                </a:solidFill>
                <a:latin typeface="Arimo Bold"/>
                <a:ea typeface="Arimo Bold"/>
                <a:cs typeface="Arimo Bold"/>
                <a:sym typeface="Arimo Bold"/>
              </a:rPr>
              <a:t> O que é </a:t>
            </a:r>
            <a:r>
              <a:rPr lang="en-US" sz="6000" b="true">
                <a:solidFill>
                  <a:srgbClr val="38B6FF"/>
                </a:solidFill>
                <a:latin typeface="Arimo Bold"/>
                <a:ea typeface="Arimo Bold"/>
                <a:cs typeface="Arimo Bold"/>
                <a:sym typeface="Arimo Bold"/>
              </a:rPr>
              <a:t>Py</a:t>
            </a:r>
            <a:r>
              <a:rPr lang="en-US" sz="6000" b="true">
                <a:solidFill>
                  <a:srgbClr val="FFDE59"/>
                </a:solidFill>
                <a:latin typeface="Arimo Bold"/>
                <a:ea typeface="Arimo Bold"/>
                <a:cs typeface="Arimo Bold"/>
                <a:sym typeface="Arimo Bold"/>
              </a:rPr>
              <a:t>thon</a:t>
            </a:r>
            <a:r>
              <a:rPr lang="en-US" sz="6000" b="true">
                <a:solidFill>
                  <a:srgbClr val="00FFC5"/>
                </a:solidFill>
                <a:latin typeface="Arimo Bold"/>
                <a:ea typeface="Arimo Bold"/>
                <a:cs typeface="Arimo Bold"/>
                <a:sym typeface="Arimo Bold"/>
              </a:rPr>
              <a:t>?</a:t>
            </a:r>
          </a:p>
          <a:p>
            <a:pPr algn="ctr">
              <a:lnSpc>
                <a:spcPts val="720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531525" y="3256459"/>
            <a:ext cx="15225150" cy="34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20430" indent="-410215" lvl="1">
              <a:lnSpc>
                <a:spcPts val="4560"/>
              </a:lnSpc>
              <a:buFont typeface="Arial"/>
              <a:buChar char="•"/>
            </a:pPr>
            <a:r>
              <a:rPr lang="en-US" sz="3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Criado por Guido van Rossum em 1991, o </a:t>
            </a:r>
            <a:r>
              <a:rPr lang="en-US" sz="3800">
                <a:solidFill>
                  <a:srgbClr val="38B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</a:t>
            </a:r>
            <a:r>
              <a:rPr lang="en-US" sz="3800">
                <a:solidFill>
                  <a:srgbClr val="FFDE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thon</a:t>
            </a:r>
            <a:r>
              <a:rPr lang="en-US" sz="3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é uma linguagem de programação feita para ter um código simples e legível. Ela é interpretada, de alto nível, multiplataforma (compatível com Windows, Linux e macOS) e suporta múltiplas funções na programação. Devido à sua praticidade e rapidez de desenvolvimento, tornou-se uma das linguagens mais populares do mundo.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0" y="7823716"/>
            <a:ext cx="8723838" cy="482810"/>
            <a:chOff x="0" y="0"/>
            <a:chExt cx="11631784" cy="6437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27" y="127"/>
              <a:ext cx="11631676" cy="643509"/>
            </a:xfrm>
            <a:custGeom>
              <a:avLst/>
              <a:gdLst/>
              <a:ahLst/>
              <a:cxnLst/>
              <a:rect r="r" b="b" t="t" l="l"/>
              <a:pathLst>
                <a:path h="643509" w="11631676">
                  <a:moveTo>
                    <a:pt x="0" y="0"/>
                  </a:moveTo>
                  <a:lnTo>
                    <a:pt x="0" y="643509"/>
                  </a:lnTo>
                  <a:lnTo>
                    <a:pt x="11631676" y="643509"/>
                  </a:lnTo>
                  <a:lnTo>
                    <a:pt x="11631676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2253016" y="8776508"/>
            <a:ext cx="8953764" cy="481792"/>
            <a:chOff x="0" y="0"/>
            <a:chExt cx="11938352" cy="6423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27" y="0"/>
              <a:ext cx="11938127" cy="642239"/>
            </a:xfrm>
            <a:custGeom>
              <a:avLst/>
              <a:gdLst/>
              <a:ahLst/>
              <a:cxnLst/>
              <a:rect r="r" b="b" t="t" l="l"/>
              <a:pathLst>
                <a:path h="642239" w="11938127">
                  <a:moveTo>
                    <a:pt x="0" y="0"/>
                  </a:moveTo>
                  <a:lnTo>
                    <a:pt x="0" y="642239"/>
                  </a:lnTo>
                  <a:lnTo>
                    <a:pt x="11938127" y="642239"/>
                  </a:lnTo>
                  <a:lnTo>
                    <a:pt x="11938127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4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269798" y="1207015"/>
            <a:ext cx="8723838" cy="482810"/>
            <a:chOff x="0" y="0"/>
            <a:chExt cx="11631784" cy="64374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127"/>
              <a:ext cx="11631676" cy="643509"/>
            </a:xfrm>
            <a:custGeom>
              <a:avLst/>
              <a:gdLst/>
              <a:ahLst/>
              <a:cxnLst/>
              <a:rect r="r" b="b" t="t" l="l"/>
              <a:pathLst>
                <a:path h="643509" w="11631676">
                  <a:moveTo>
                    <a:pt x="0" y="0"/>
                  </a:moveTo>
                  <a:lnTo>
                    <a:pt x="0" y="643509"/>
                  </a:lnTo>
                  <a:lnTo>
                    <a:pt x="11631676" y="643509"/>
                  </a:lnTo>
                  <a:lnTo>
                    <a:pt x="11631676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939177" y="1028700"/>
            <a:ext cx="2487316" cy="482786"/>
            <a:chOff x="0" y="0"/>
            <a:chExt cx="3316421" cy="64371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127"/>
              <a:ext cx="3316478" cy="643636"/>
            </a:xfrm>
            <a:custGeom>
              <a:avLst/>
              <a:gdLst/>
              <a:ahLst/>
              <a:cxnLst/>
              <a:rect r="r" b="b" t="t" l="l"/>
              <a:pathLst>
                <a:path h="643636" w="3316478">
                  <a:moveTo>
                    <a:pt x="0" y="0"/>
                  </a:moveTo>
                  <a:lnTo>
                    <a:pt x="0" y="643636"/>
                  </a:lnTo>
                  <a:lnTo>
                    <a:pt x="3316478" y="643636"/>
                  </a:lnTo>
                  <a:lnTo>
                    <a:pt x="3316478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1065106" y="336907"/>
            <a:ext cx="2684932" cy="482810"/>
            <a:chOff x="0" y="0"/>
            <a:chExt cx="3579909" cy="6437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"/>
              <a:ext cx="3579876" cy="643509"/>
            </a:xfrm>
            <a:custGeom>
              <a:avLst/>
              <a:gdLst/>
              <a:ahLst/>
              <a:cxnLst/>
              <a:rect r="r" b="b" t="t" l="l"/>
              <a:pathLst>
                <a:path h="643509" w="3579876">
                  <a:moveTo>
                    <a:pt x="0" y="0"/>
                  </a:moveTo>
                  <a:lnTo>
                    <a:pt x="0" y="643509"/>
                  </a:lnTo>
                  <a:lnTo>
                    <a:pt x="3579876" y="643509"/>
                  </a:lnTo>
                  <a:lnTo>
                    <a:pt x="3579876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2961324" y="2651290"/>
            <a:ext cx="12365352" cy="7353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 primeiro programa em</a:t>
            </a:r>
            <a:r>
              <a:rPr lang="en-US" sz="4400" b="true">
                <a:solidFill>
                  <a:srgbClr val="38B6FF"/>
                </a:solidFill>
                <a:latin typeface="Arimo Bold"/>
                <a:ea typeface="Arimo Bold"/>
                <a:cs typeface="Arimo Bold"/>
                <a:sym typeface="Arimo Bold"/>
              </a:rPr>
              <a:t> Py</a:t>
            </a:r>
            <a:r>
              <a:rPr lang="en-US" sz="4400" b="true">
                <a:solidFill>
                  <a:srgbClr val="FFDE59"/>
                </a:solidFill>
                <a:latin typeface="Arimo Bold"/>
                <a:ea typeface="Arimo Bold"/>
                <a:cs typeface="Arimo Bold"/>
                <a:sym typeface="Arimo Bold"/>
              </a:rPr>
              <a:t>thon</a:t>
            </a:r>
            <a:r>
              <a:rPr lang="en-US" sz="4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costuma ser o famoso “Hello World”.</a:t>
            </a:r>
          </a:p>
          <a:p>
            <a:pPr algn="l">
              <a:lnSpc>
                <a:spcPts val="5280"/>
              </a:lnSpc>
            </a:pPr>
          </a:p>
          <a:p>
            <a:pPr algn="l">
              <a:lnSpc>
                <a:spcPts val="5280"/>
              </a:lnSpc>
            </a:pPr>
          </a:p>
          <a:p>
            <a:pPr algn="l">
              <a:lnSpc>
                <a:spcPts val="5280"/>
              </a:lnSpc>
            </a:pPr>
          </a:p>
          <a:p>
            <a:pPr algn="l">
              <a:lnSpc>
                <a:spcPts val="5280"/>
              </a:lnSpc>
            </a:pPr>
          </a:p>
          <a:p>
            <a:pPr algn="l">
              <a:lnSpc>
                <a:spcPts val="5280"/>
              </a:lnSpc>
            </a:pPr>
          </a:p>
          <a:p>
            <a:pPr algn="l">
              <a:lnSpc>
                <a:spcPts val="5280"/>
              </a:lnSpc>
            </a:pPr>
          </a:p>
          <a:p>
            <a:pPr algn="l">
              <a:lnSpc>
                <a:spcPts val="5280"/>
              </a:lnSpc>
            </a:pPr>
            <a:r>
              <a:rPr lang="en-US" sz="4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Esse exemplo mostra como </a:t>
            </a:r>
            <a:r>
              <a:rPr lang="en-US" sz="4400" b="true">
                <a:solidFill>
                  <a:srgbClr val="38B6FF"/>
                </a:solidFill>
                <a:latin typeface="Arimo Bold"/>
                <a:ea typeface="Arimo Bold"/>
                <a:cs typeface="Arimo Bold"/>
                <a:sym typeface="Arimo Bold"/>
              </a:rPr>
              <a:t>Py</a:t>
            </a:r>
            <a:r>
              <a:rPr lang="en-US" sz="4400" b="true">
                <a:solidFill>
                  <a:srgbClr val="FFDE59"/>
                </a:solidFill>
                <a:latin typeface="Arimo Bold"/>
                <a:ea typeface="Arimo Bold"/>
                <a:cs typeface="Arimo Bold"/>
                <a:sym typeface="Arimo Bold"/>
              </a:rPr>
              <a:t>thon</a:t>
            </a:r>
            <a:r>
              <a:rPr lang="en-US" sz="44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possui uma sintaxe simples e direta.</a:t>
            </a:r>
          </a:p>
          <a:p>
            <a:pPr algn="l">
              <a:lnSpc>
                <a:spcPts val="5280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174570" y="4286166"/>
            <a:ext cx="9136355" cy="3397439"/>
          </a:xfrm>
          <a:custGeom>
            <a:avLst/>
            <a:gdLst/>
            <a:ahLst/>
            <a:cxnLst/>
            <a:rect r="r" b="b" t="t" l="l"/>
            <a:pathLst>
              <a:path h="3397439" w="9136355">
                <a:moveTo>
                  <a:pt x="0" y="0"/>
                </a:moveTo>
                <a:lnTo>
                  <a:pt x="9136354" y="0"/>
                </a:lnTo>
                <a:lnTo>
                  <a:pt x="9136354" y="3397439"/>
                </a:lnTo>
                <a:lnTo>
                  <a:pt x="0" y="33974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47425" y="746850"/>
            <a:ext cx="12993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00FFC5"/>
                </a:solidFill>
                <a:latin typeface="Arimo Bold"/>
                <a:ea typeface="Arimo Bold"/>
                <a:cs typeface="Arimo Bold"/>
                <a:sym typeface="Arimo Bold"/>
              </a:rPr>
              <a:t>Hello World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4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025469"/>
            <a:ext cx="5886254" cy="52944"/>
            <a:chOff x="0" y="0"/>
            <a:chExt cx="7848339" cy="705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4"/>
              <a:ext cx="7848346" cy="70566"/>
            </a:xfrm>
            <a:custGeom>
              <a:avLst/>
              <a:gdLst/>
              <a:ahLst/>
              <a:cxnLst/>
              <a:rect r="r" b="b" t="t" l="l"/>
              <a:pathLst>
                <a:path h="70566" w="7848346">
                  <a:moveTo>
                    <a:pt x="0" y="0"/>
                  </a:moveTo>
                  <a:lnTo>
                    <a:pt x="0" y="70566"/>
                  </a:lnTo>
                  <a:lnTo>
                    <a:pt x="7848346" y="70566"/>
                  </a:lnTo>
                  <a:lnTo>
                    <a:pt x="7848346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706100" y="3619500"/>
            <a:ext cx="6648502" cy="5162548"/>
          </a:xfrm>
          <a:custGeom>
            <a:avLst/>
            <a:gdLst/>
            <a:ahLst/>
            <a:cxnLst/>
            <a:rect r="r" b="b" t="t" l="l"/>
            <a:pathLst>
              <a:path h="5162548" w="6648502">
                <a:moveTo>
                  <a:pt x="0" y="0"/>
                </a:moveTo>
                <a:lnTo>
                  <a:pt x="6648502" y="0"/>
                </a:lnTo>
                <a:lnTo>
                  <a:pt x="6648502" y="5162548"/>
                </a:lnTo>
                <a:lnTo>
                  <a:pt x="0" y="51625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7028" t="-23623" r="-14138" b="-6269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310423" y="4008900"/>
            <a:ext cx="6842550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Nomes Significativos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Funções Pequenas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Docstrings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Tratamento de Erros</a:t>
            </a:r>
          </a:p>
          <a:p>
            <a:pPr algn="l" marL="690880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Evite Código Duplicado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48801" y="704332"/>
            <a:ext cx="6428878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>
                <a:solidFill>
                  <a:srgbClr val="00FFC5"/>
                </a:solidFill>
                <a:latin typeface="Arimo Bold"/>
                <a:ea typeface="Arimo Bold"/>
                <a:cs typeface="Arimo Bold"/>
                <a:sym typeface="Arimo Bold"/>
              </a:rPr>
              <a:t>Boas práticas de programação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5049502" y="7775100"/>
            <a:ext cx="3238572" cy="482810"/>
            <a:chOff x="0" y="0"/>
            <a:chExt cx="4318096" cy="64374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127"/>
              <a:ext cx="4318127" cy="643509"/>
            </a:xfrm>
            <a:custGeom>
              <a:avLst/>
              <a:gdLst/>
              <a:ahLst/>
              <a:cxnLst/>
              <a:rect r="r" b="b" t="t" l="l"/>
              <a:pathLst>
                <a:path h="643509" w="4318127">
                  <a:moveTo>
                    <a:pt x="0" y="0"/>
                  </a:moveTo>
                  <a:lnTo>
                    <a:pt x="0" y="643509"/>
                  </a:lnTo>
                  <a:lnTo>
                    <a:pt x="4318127" y="643509"/>
                  </a:lnTo>
                  <a:lnTo>
                    <a:pt x="4318127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</p:grp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4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3025469"/>
            <a:ext cx="5886254" cy="52944"/>
            <a:chOff x="0" y="0"/>
            <a:chExt cx="7848339" cy="705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14"/>
              <a:ext cx="7848346" cy="70566"/>
            </a:xfrm>
            <a:custGeom>
              <a:avLst/>
              <a:gdLst/>
              <a:ahLst/>
              <a:cxnLst/>
              <a:rect r="r" b="b" t="t" l="l"/>
              <a:pathLst>
                <a:path h="70566" w="7848346">
                  <a:moveTo>
                    <a:pt x="0" y="0"/>
                  </a:moveTo>
                  <a:lnTo>
                    <a:pt x="0" y="70566"/>
                  </a:lnTo>
                  <a:lnTo>
                    <a:pt x="7848346" y="70566"/>
                  </a:lnTo>
                  <a:lnTo>
                    <a:pt x="7848346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10423" y="4008900"/>
            <a:ext cx="7299267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Indentação: 4 espaços (nunca tab)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Linhas com máx. 79 caracteres</a:t>
            </a:r>
          </a:p>
          <a:p>
            <a:pPr algn="l" marL="690880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 linhas em branco entre funções/classes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17259" y="669867"/>
            <a:ext cx="6428878" cy="277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6000" b="true">
                <a:solidFill>
                  <a:srgbClr val="00FFC5"/>
                </a:solidFill>
                <a:latin typeface="Arimo Bold"/>
                <a:ea typeface="Arimo Bold"/>
                <a:cs typeface="Arimo Bold"/>
                <a:sym typeface="Arimo Bold"/>
              </a:rPr>
              <a:t>PEP 8 — Guia de Estilo Oficial</a:t>
            </a:r>
          </a:p>
          <a:p>
            <a:pPr algn="l">
              <a:lnSpc>
                <a:spcPts val="7200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5049502" y="7775100"/>
            <a:ext cx="3238572" cy="482810"/>
            <a:chOff x="0" y="0"/>
            <a:chExt cx="4318096" cy="6437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"/>
              <a:ext cx="4318127" cy="643509"/>
            </a:xfrm>
            <a:custGeom>
              <a:avLst/>
              <a:gdLst/>
              <a:ahLst/>
              <a:cxnLst/>
              <a:rect r="r" b="b" t="t" l="l"/>
              <a:pathLst>
                <a:path h="643509" w="4318127">
                  <a:moveTo>
                    <a:pt x="0" y="0"/>
                  </a:moveTo>
                  <a:lnTo>
                    <a:pt x="0" y="643509"/>
                  </a:lnTo>
                  <a:lnTo>
                    <a:pt x="4318127" y="643509"/>
                  </a:lnTo>
                  <a:lnTo>
                    <a:pt x="4318127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1403152" y="0"/>
            <a:ext cx="3646350" cy="10287000"/>
          </a:xfrm>
          <a:custGeom>
            <a:avLst/>
            <a:gdLst/>
            <a:ahLst/>
            <a:cxnLst/>
            <a:rect r="r" b="b" t="t" l="l"/>
            <a:pathLst>
              <a:path h="10287000" w="3646350">
                <a:moveTo>
                  <a:pt x="0" y="0"/>
                </a:moveTo>
                <a:lnTo>
                  <a:pt x="3646350" y="0"/>
                </a:lnTo>
                <a:lnTo>
                  <a:pt x="36463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8941" t="0" r="-63882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049502" y="2784076"/>
            <a:ext cx="3348897" cy="482786"/>
            <a:chOff x="0" y="0"/>
            <a:chExt cx="4465196" cy="6437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127"/>
              <a:ext cx="4465253" cy="643636"/>
            </a:xfrm>
            <a:custGeom>
              <a:avLst/>
              <a:gdLst/>
              <a:ahLst/>
              <a:cxnLst/>
              <a:rect r="r" b="b" t="t" l="l"/>
              <a:pathLst>
                <a:path h="643636" w="4465253">
                  <a:moveTo>
                    <a:pt x="0" y="0"/>
                  </a:moveTo>
                  <a:lnTo>
                    <a:pt x="0" y="643636"/>
                  </a:lnTo>
                  <a:lnTo>
                    <a:pt x="4465253" y="643636"/>
                  </a:lnTo>
                  <a:lnTo>
                    <a:pt x="4465253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0" y="698442"/>
            <a:ext cx="1269312" cy="1399964"/>
          </a:xfrm>
          <a:custGeom>
            <a:avLst/>
            <a:gdLst/>
            <a:ahLst/>
            <a:cxnLst/>
            <a:rect r="r" b="b" t="t" l="l"/>
            <a:pathLst>
              <a:path h="1399964" w="1269312">
                <a:moveTo>
                  <a:pt x="0" y="0"/>
                </a:moveTo>
                <a:lnTo>
                  <a:pt x="1269312" y="0"/>
                </a:lnTo>
                <a:lnTo>
                  <a:pt x="1269312" y="1399964"/>
                </a:lnTo>
                <a:lnTo>
                  <a:pt x="0" y="139996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10423" y="6441940"/>
            <a:ext cx="10092729" cy="3429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Espaços ao redor de operadores: a = 1 + 2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Imports no topo, um por linha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Docstrings em todas as funções e classes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Variáveis e funções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Use letras minúsculas.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Separe palavras com underline (snake_case).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Use CamelCase para classes.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581804" y="5143500"/>
            <a:ext cx="1609130" cy="1355590"/>
          </a:xfrm>
          <a:custGeom>
            <a:avLst/>
            <a:gdLst/>
            <a:ahLst/>
            <a:cxnLst/>
            <a:rect r="r" b="b" t="t" l="l"/>
            <a:pathLst>
              <a:path h="1355590" w="1609130">
                <a:moveTo>
                  <a:pt x="0" y="0"/>
                </a:moveTo>
                <a:lnTo>
                  <a:pt x="1609130" y="0"/>
                </a:lnTo>
                <a:lnTo>
                  <a:pt x="1609130" y="1355590"/>
                </a:lnTo>
                <a:lnTo>
                  <a:pt x="0" y="13555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4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47525" y="749250"/>
            <a:ext cx="12993150" cy="1857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00FFC5"/>
                </a:solidFill>
                <a:latin typeface="Arimo Bold"/>
                <a:ea typeface="Arimo Bold"/>
                <a:cs typeface="Arimo Bold"/>
                <a:sym typeface="Arimo Bold"/>
              </a:rPr>
              <a:t>Onde Python é usado? - Área de atuação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5807410" y="3659850"/>
            <a:ext cx="815790" cy="359396"/>
            <a:chOff x="0" y="0"/>
            <a:chExt cx="1087720" cy="47919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7628" cy="479171"/>
            </a:xfrm>
            <a:custGeom>
              <a:avLst/>
              <a:gdLst/>
              <a:ahLst/>
              <a:cxnLst/>
              <a:rect r="r" b="b" t="t" l="l"/>
              <a:pathLst>
                <a:path h="479171" w="1087628">
                  <a:moveTo>
                    <a:pt x="1087628" y="0"/>
                  </a:moveTo>
                  <a:lnTo>
                    <a:pt x="1087628" y="479171"/>
                  </a:lnTo>
                  <a:lnTo>
                    <a:pt x="0" y="4791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C00">
                <a:alpha val="9804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2375252" y="6996700"/>
            <a:ext cx="436806" cy="359502"/>
            <a:chOff x="0" y="0"/>
            <a:chExt cx="582408" cy="47933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254"/>
              <a:ext cx="582295" cy="478917"/>
            </a:xfrm>
            <a:custGeom>
              <a:avLst/>
              <a:gdLst/>
              <a:ahLst/>
              <a:cxnLst/>
              <a:rect r="r" b="b" t="t" l="l"/>
              <a:pathLst>
                <a:path h="478917" w="582295">
                  <a:moveTo>
                    <a:pt x="582295" y="0"/>
                  </a:moveTo>
                  <a:lnTo>
                    <a:pt x="582295" y="478917"/>
                  </a:lnTo>
                  <a:lnTo>
                    <a:pt x="0" y="4789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804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164228" y="4253500"/>
            <a:ext cx="647826" cy="359502"/>
            <a:chOff x="0" y="0"/>
            <a:chExt cx="863768" cy="4793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254"/>
              <a:ext cx="863727" cy="478917"/>
            </a:xfrm>
            <a:custGeom>
              <a:avLst/>
              <a:gdLst/>
              <a:ahLst/>
              <a:cxnLst/>
              <a:rect r="r" b="b" t="t" l="l"/>
              <a:pathLst>
                <a:path h="478917" w="863727">
                  <a:moveTo>
                    <a:pt x="863727" y="0"/>
                  </a:moveTo>
                  <a:lnTo>
                    <a:pt x="863727" y="478917"/>
                  </a:lnTo>
                  <a:lnTo>
                    <a:pt x="0" y="4789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5474606" y="6996700"/>
            <a:ext cx="815776" cy="359502"/>
            <a:chOff x="0" y="0"/>
            <a:chExt cx="1087701" cy="4793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254" y="254"/>
              <a:ext cx="1087501" cy="478917"/>
            </a:xfrm>
            <a:custGeom>
              <a:avLst/>
              <a:gdLst/>
              <a:ahLst/>
              <a:cxnLst/>
              <a:rect r="r" b="b" t="t" l="l"/>
              <a:pathLst>
                <a:path h="478917" w="1087501">
                  <a:moveTo>
                    <a:pt x="0" y="0"/>
                  </a:moveTo>
                  <a:lnTo>
                    <a:pt x="0" y="478917"/>
                  </a:lnTo>
                  <a:lnTo>
                    <a:pt x="1087501" y="478917"/>
                  </a:lnTo>
                  <a:lnTo>
                    <a:pt x="1087501" y="0"/>
                  </a:lnTo>
                  <a:close/>
                </a:path>
              </a:pathLst>
            </a:custGeom>
            <a:solidFill>
              <a:srgbClr val="FFFFFF">
                <a:alpha val="980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468540" y="4253500"/>
            <a:ext cx="436818" cy="359502"/>
            <a:chOff x="0" y="0"/>
            <a:chExt cx="582424" cy="4793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254"/>
              <a:ext cx="582422" cy="478917"/>
            </a:xfrm>
            <a:custGeom>
              <a:avLst/>
              <a:gdLst/>
              <a:ahLst/>
              <a:cxnLst/>
              <a:rect r="r" b="b" t="t" l="l"/>
              <a:pathLst>
                <a:path h="478917" w="582422">
                  <a:moveTo>
                    <a:pt x="582422" y="0"/>
                  </a:moveTo>
                  <a:lnTo>
                    <a:pt x="582422" y="478917"/>
                  </a:lnTo>
                  <a:lnTo>
                    <a:pt x="0" y="4789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74122" y="4848950"/>
            <a:ext cx="942978" cy="357698"/>
            <a:chOff x="0" y="0"/>
            <a:chExt cx="1257304" cy="4769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254"/>
              <a:ext cx="1257173" cy="476631"/>
            </a:xfrm>
            <a:custGeom>
              <a:avLst/>
              <a:gdLst/>
              <a:ahLst/>
              <a:cxnLst/>
              <a:rect r="r" b="b" t="t" l="l"/>
              <a:pathLst>
                <a:path h="476631" w="1257173">
                  <a:moveTo>
                    <a:pt x="1257173" y="0"/>
                  </a:moveTo>
                  <a:lnTo>
                    <a:pt x="1257173" y="476631"/>
                  </a:lnTo>
                  <a:lnTo>
                    <a:pt x="0" y="476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9804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-5400000">
            <a:off x="2667000" y="3659850"/>
            <a:ext cx="1546800" cy="1546800"/>
            <a:chOff x="0" y="0"/>
            <a:chExt cx="2062400" cy="2062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62353" cy="2062353"/>
            </a:xfrm>
            <a:custGeom>
              <a:avLst/>
              <a:gdLst/>
              <a:ahLst/>
              <a:cxnLst/>
              <a:rect r="r" b="b" t="t" l="l"/>
              <a:pathLst>
                <a:path h="2062353" w="2062353">
                  <a:moveTo>
                    <a:pt x="2062353" y="0"/>
                  </a:moveTo>
                  <a:lnTo>
                    <a:pt x="0" y="0"/>
                  </a:lnTo>
                  <a:lnTo>
                    <a:pt x="0" y="2062353"/>
                  </a:lnTo>
                  <a:lnTo>
                    <a:pt x="2062353" y="2062353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4623441" y="3239446"/>
            <a:ext cx="3096135" cy="10246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3"/>
              </a:lnSpc>
            </a:pPr>
            <a:r>
              <a:rPr lang="en-US" b="true" sz="3286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IA &amp; Machine Learning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519801" y="3740379"/>
            <a:ext cx="41449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48"/>
              </a:lnSpc>
            </a:pPr>
            <a:r>
              <a:rPr lang="en-US" b="true" sz="329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Ciência de Dados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19775" y="4397348"/>
            <a:ext cx="414495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Pandas, NumPy, Matplotlib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23427" y="6500875"/>
            <a:ext cx="41449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8"/>
              </a:lnSpc>
            </a:pPr>
            <a:r>
              <a:rPr lang="en-US" b="true" sz="329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Segurança / DevOps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23425" y="7152800"/>
            <a:ext cx="414495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Pentest, scripts de automação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519825" y="6501033"/>
            <a:ext cx="4144950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48"/>
              </a:lnSpc>
            </a:pPr>
            <a:r>
              <a:rPr lang="en-US" b="true" sz="329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Games &amp; Simulação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519775" y="7152800"/>
            <a:ext cx="414495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Pygame, Blender scripting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039850" y="3659850"/>
            <a:ext cx="1546800" cy="1546800"/>
            <a:chOff x="0" y="0"/>
            <a:chExt cx="2062400" cy="2062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062353" cy="2062353"/>
            </a:xfrm>
            <a:custGeom>
              <a:avLst/>
              <a:gdLst/>
              <a:ahLst/>
              <a:cxnLst/>
              <a:rect r="r" b="b" t="t" l="l"/>
              <a:pathLst>
                <a:path h="2062353" w="2062353">
                  <a:moveTo>
                    <a:pt x="0" y="0"/>
                  </a:moveTo>
                  <a:lnTo>
                    <a:pt x="2062353" y="0"/>
                  </a:lnTo>
                  <a:lnTo>
                    <a:pt x="2062353" y="2062353"/>
                  </a:lnTo>
                  <a:lnTo>
                    <a:pt x="0" y="2062353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name="Group 26" id="26"/>
          <p:cNvGrpSpPr/>
          <p:nvPr/>
        </p:nvGrpSpPr>
        <p:grpSpPr>
          <a:xfrm rot="-10800000">
            <a:off x="2667000" y="6403050"/>
            <a:ext cx="1546800" cy="1546800"/>
            <a:chOff x="0" y="0"/>
            <a:chExt cx="2062400" cy="20624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062353" cy="2062353"/>
            </a:xfrm>
            <a:custGeom>
              <a:avLst/>
              <a:gdLst/>
              <a:ahLst/>
              <a:cxnLst/>
              <a:rect r="r" b="b" t="t" l="l"/>
              <a:pathLst>
                <a:path h="2062353" w="2062353">
                  <a:moveTo>
                    <a:pt x="2062353" y="0"/>
                  </a:moveTo>
                  <a:lnTo>
                    <a:pt x="0" y="0"/>
                  </a:lnTo>
                  <a:lnTo>
                    <a:pt x="0" y="2062353"/>
                  </a:lnTo>
                  <a:lnTo>
                    <a:pt x="2062353" y="2062353"/>
                  </a:lnTo>
                  <a:close/>
                </a:path>
              </a:pathLst>
            </a:custGeom>
            <a:solidFill>
              <a:srgbClr val="38B6F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5870348" y="6401350"/>
            <a:ext cx="943012" cy="359396"/>
            <a:chOff x="0" y="0"/>
            <a:chExt cx="1257349" cy="47919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57300" cy="479171"/>
            </a:xfrm>
            <a:custGeom>
              <a:avLst/>
              <a:gdLst/>
              <a:ahLst/>
              <a:cxnLst/>
              <a:rect r="r" b="b" t="t" l="l"/>
              <a:pathLst>
                <a:path h="479171" w="1257300">
                  <a:moveTo>
                    <a:pt x="0" y="0"/>
                  </a:moveTo>
                  <a:lnTo>
                    <a:pt x="0" y="479171"/>
                  </a:lnTo>
                  <a:lnTo>
                    <a:pt x="1257300" y="479171"/>
                  </a:lnTo>
                  <a:lnTo>
                    <a:pt x="125730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501668" y="6996698"/>
            <a:ext cx="755210" cy="359502"/>
            <a:chOff x="0" y="0"/>
            <a:chExt cx="1006947" cy="4793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254"/>
              <a:ext cx="1006983" cy="478917"/>
            </a:xfrm>
            <a:custGeom>
              <a:avLst/>
              <a:gdLst/>
              <a:ahLst/>
              <a:cxnLst/>
              <a:rect r="r" b="b" t="t" l="l"/>
              <a:pathLst>
                <a:path h="478917" w="1006983">
                  <a:moveTo>
                    <a:pt x="0" y="0"/>
                  </a:moveTo>
                  <a:lnTo>
                    <a:pt x="0" y="478917"/>
                  </a:lnTo>
                  <a:lnTo>
                    <a:pt x="1006983" y="478917"/>
                  </a:lnTo>
                  <a:lnTo>
                    <a:pt x="1006983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5899850" y="7592150"/>
            <a:ext cx="601816" cy="357698"/>
            <a:chOff x="0" y="0"/>
            <a:chExt cx="802421" cy="47693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27" y="254"/>
              <a:ext cx="802259" cy="476631"/>
            </a:xfrm>
            <a:custGeom>
              <a:avLst/>
              <a:gdLst/>
              <a:ahLst/>
              <a:cxnLst/>
              <a:rect r="r" b="b" t="t" l="l"/>
              <a:pathLst>
                <a:path h="476631" w="802259">
                  <a:moveTo>
                    <a:pt x="0" y="0"/>
                  </a:moveTo>
                  <a:lnTo>
                    <a:pt x="0" y="476631"/>
                  </a:lnTo>
                  <a:lnTo>
                    <a:pt x="802259" y="476631"/>
                  </a:lnTo>
                  <a:lnTo>
                    <a:pt x="802259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name="Group 34" id="34"/>
          <p:cNvGrpSpPr/>
          <p:nvPr/>
        </p:nvGrpSpPr>
        <p:grpSpPr>
          <a:xfrm rot="5400000">
            <a:off x="14039850" y="6403050"/>
            <a:ext cx="1546800" cy="1546800"/>
            <a:chOff x="0" y="0"/>
            <a:chExt cx="2062400" cy="20624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62353" cy="2062353"/>
            </a:xfrm>
            <a:custGeom>
              <a:avLst/>
              <a:gdLst/>
              <a:ahLst/>
              <a:cxnLst/>
              <a:rect r="r" b="b" t="t" l="l"/>
              <a:pathLst>
                <a:path h="2062353" w="2062353">
                  <a:moveTo>
                    <a:pt x="0" y="0"/>
                  </a:moveTo>
                  <a:lnTo>
                    <a:pt x="2062353" y="0"/>
                  </a:lnTo>
                  <a:lnTo>
                    <a:pt x="2062353" y="2062353"/>
                  </a:lnTo>
                  <a:lnTo>
                    <a:pt x="0" y="2062353"/>
                  </a:lnTo>
                  <a:close/>
                </a:path>
              </a:pathLst>
            </a:custGeom>
            <a:solidFill>
              <a:srgbClr val="38B6FF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457072" y="6403050"/>
            <a:ext cx="977728" cy="359396"/>
            <a:chOff x="0" y="0"/>
            <a:chExt cx="1303637" cy="47919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03528" cy="479171"/>
            </a:xfrm>
            <a:custGeom>
              <a:avLst/>
              <a:gdLst/>
              <a:ahLst/>
              <a:cxnLst/>
              <a:rect r="r" b="b" t="t" l="l"/>
              <a:pathLst>
                <a:path h="479171" w="1303528">
                  <a:moveTo>
                    <a:pt x="1303528" y="0"/>
                  </a:moveTo>
                  <a:lnTo>
                    <a:pt x="1303528" y="479171"/>
                  </a:lnTo>
                  <a:lnTo>
                    <a:pt x="0" y="4791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28616" y="6996700"/>
            <a:ext cx="1140334" cy="359502"/>
            <a:chOff x="0" y="0"/>
            <a:chExt cx="1520445" cy="4793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254"/>
              <a:ext cx="1520444" cy="478917"/>
            </a:xfrm>
            <a:custGeom>
              <a:avLst/>
              <a:gdLst/>
              <a:ahLst/>
              <a:cxnLst/>
              <a:rect r="r" b="b" t="t" l="l"/>
              <a:pathLst>
                <a:path h="478917" w="1520444">
                  <a:moveTo>
                    <a:pt x="1520444" y="0"/>
                  </a:moveTo>
                  <a:lnTo>
                    <a:pt x="1520444" y="478917"/>
                  </a:lnTo>
                  <a:lnTo>
                    <a:pt x="0" y="4789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754712" y="7592150"/>
            <a:ext cx="647788" cy="357698"/>
            <a:chOff x="0" y="0"/>
            <a:chExt cx="863717" cy="47693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254"/>
              <a:ext cx="863600" cy="476631"/>
            </a:xfrm>
            <a:custGeom>
              <a:avLst/>
              <a:gdLst/>
              <a:ahLst/>
              <a:cxnLst/>
              <a:rect r="r" b="b" t="t" l="l"/>
              <a:pathLst>
                <a:path h="476631" w="863600">
                  <a:moveTo>
                    <a:pt x="863600" y="0"/>
                  </a:moveTo>
                  <a:lnTo>
                    <a:pt x="863600" y="476631"/>
                  </a:lnTo>
                  <a:lnTo>
                    <a:pt x="0" y="476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028720" y="3659850"/>
            <a:ext cx="1406084" cy="359396"/>
            <a:chOff x="0" y="0"/>
            <a:chExt cx="1874779" cy="47919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127" y="0"/>
              <a:ext cx="1874520" cy="479171"/>
            </a:xfrm>
            <a:custGeom>
              <a:avLst/>
              <a:gdLst/>
              <a:ahLst/>
              <a:cxnLst/>
              <a:rect r="r" b="b" t="t" l="l"/>
              <a:pathLst>
                <a:path h="479171" w="1874520">
                  <a:moveTo>
                    <a:pt x="1874520" y="0"/>
                  </a:moveTo>
                  <a:lnTo>
                    <a:pt x="1874520" y="479171"/>
                  </a:lnTo>
                  <a:lnTo>
                    <a:pt x="0" y="4791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566408" y="4254350"/>
            <a:ext cx="357632" cy="359502"/>
            <a:chOff x="0" y="0"/>
            <a:chExt cx="476843" cy="47933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254"/>
              <a:ext cx="476885" cy="478917"/>
            </a:xfrm>
            <a:custGeom>
              <a:avLst/>
              <a:gdLst/>
              <a:ahLst/>
              <a:cxnLst/>
              <a:rect r="r" b="b" t="t" l="l"/>
              <a:pathLst>
                <a:path h="478917" w="476885">
                  <a:moveTo>
                    <a:pt x="476885" y="0"/>
                  </a:moveTo>
                  <a:lnTo>
                    <a:pt x="476885" y="478917"/>
                  </a:lnTo>
                  <a:lnTo>
                    <a:pt x="0" y="4789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6142104" y="4253500"/>
            <a:ext cx="1140346" cy="359502"/>
            <a:chOff x="0" y="0"/>
            <a:chExt cx="1520461" cy="4793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254"/>
              <a:ext cx="1520190" cy="478917"/>
            </a:xfrm>
            <a:custGeom>
              <a:avLst/>
              <a:gdLst/>
              <a:ahLst/>
              <a:cxnLst/>
              <a:rect r="r" b="b" t="t" l="l"/>
              <a:pathLst>
                <a:path h="478917" w="1520190">
                  <a:moveTo>
                    <a:pt x="1520190" y="0"/>
                  </a:moveTo>
                  <a:lnTo>
                    <a:pt x="1520190" y="478917"/>
                  </a:lnTo>
                  <a:lnTo>
                    <a:pt x="0" y="4789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8B6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5861322" y="4848950"/>
            <a:ext cx="942978" cy="357698"/>
            <a:chOff x="0" y="0"/>
            <a:chExt cx="1257304" cy="47693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254"/>
              <a:ext cx="1257173" cy="476631"/>
            </a:xfrm>
            <a:custGeom>
              <a:avLst/>
              <a:gdLst/>
              <a:ahLst/>
              <a:cxnLst/>
              <a:rect r="r" b="b" t="t" l="l"/>
              <a:pathLst>
                <a:path h="476631" w="1257173">
                  <a:moveTo>
                    <a:pt x="1257173" y="0"/>
                  </a:moveTo>
                  <a:lnTo>
                    <a:pt x="1257173" y="476631"/>
                  </a:lnTo>
                  <a:lnTo>
                    <a:pt x="0" y="476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E59">
                <a:alpha val="9804"/>
              </a:srgbClr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4623441" y="4397344"/>
            <a:ext cx="4144950" cy="857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TensorFlow, PyTorch, scikit-learn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2979194" y="6715608"/>
            <a:ext cx="922412" cy="921684"/>
          </a:xfrm>
          <a:custGeom>
            <a:avLst/>
            <a:gdLst/>
            <a:ahLst/>
            <a:cxnLst/>
            <a:rect r="r" b="b" t="t" l="l"/>
            <a:pathLst>
              <a:path h="921684" w="922412">
                <a:moveTo>
                  <a:pt x="0" y="0"/>
                </a:moveTo>
                <a:lnTo>
                  <a:pt x="922412" y="0"/>
                </a:lnTo>
                <a:lnTo>
                  <a:pt x="922412" y="921684"/>
                </a:lnTo>
                <a:lnTo>
                  <a:pt x="0" y="9216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14357082" y="6720696"/>
            <a:ext cx="912338" cy="911510"/>
          </a:xfrm>
          <a:custGeom>
            <a:avLst/>
            <a:gdLst/>
            <a:ahLst/>
            <a:cxnLst/>
            <a:rect r="r" b="b" t="t" l="l"/>
            <a:pathLst>
              <a:path h="911510" w="912338">
                <a:moveTo>
                  <a:pt x="0" y="0"/>
                </a:moveTo>
                <a:lnTo>
                  <a:pt x="912338" y="0"/>
                </a:lnTo>
                <a:lnTo>
                  <a:pt x="912338" y="911510"/>
                </a:lnTo>
                <a:lnTo>
                  <a:pt x="0" y="9115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3036584" y="3972772"/>
            <a:ext cx="807634" cy="920956"/>
          </a:xfrm>
          <a:custGeom>
            <a:avLst/>
            <a:gdLst/>
            <a:ahLst/>
            <a:cxnLst/>
            <a:rect r="r" b="b" t="t" l="l"/>
            <a:pathLst>
              <a:path h="920956" w="807634">
                <a:moveTo>
                  <a:pt x="0" y="0"/>
                </a:moveTo>
                <a:lnTo>
                  <a:pt x="807634" y="0"/>
                </a:lnTo>
                <a:lnTo>
                  <a:pt x="807634" y="920956"/>
                </a:lnTo>
                <a:lnTo>
                  <a:pt x="0" y="92095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14381468" y="3979354"/>
            <a:ext cx="863564" cy="914374"/>
          </a:xfrm>
          <a:custGeom>
            <a:avLst/>
            <a:gdLst/>
            <a:ahLst/>
            <a:cxnLst/>
            <a:rect r="r" b="b" t="t" l="l"/>
            <a:pathLst>
              <a:path h="914374" w="863564">
                <a:moveTo>
                  <a:pt x="0" y="0"/>
                </a:moveTo>
                <a:lnTo>
                  <a:pt x="863564" y="0"/>
                </a:lnTo>
                <a:lnTo>
                  <a:pt x="863564" y="914374"/>
                </a:lnTo>
                <a:lnTo>
                  <a:pt x="0" y="91437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4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0" y="5632572"/>
            <a:ext cx="18288092" cy="1896700"/>
          </a:xfrm>
          <a:custGeom>
            <a:avLst/>
            <a:gdLst/>
            <a:ahLst/>
            <a:cxnLst/>
            <a:rect r="r" b="b" t="t" l="l"/>
            <a:pathLst>
              <a:path h="1896700" w="18288092">
                <a:moveTo>
                  <a:pt x="0" y="0"/>
                </a:moveTo>
                <a:lnTo>
                  <a:pt x="18288092" y="0"/>
                </a:lnTo>
                <a:lnTo>
                  <a:pt x="18288092" y="1896700"/>
                </a:lnTo>
                <a:lnTo>
                  <a:pt x="0" y="1896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47425" y="746850"/>
            <a:ext cx="12993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00FFC5"/>
                </a:solidFill>
                <a:latin typeface="Arimo Bold"/>
                <a:ea typeface="Arimo Bold"/>
                <a:cs typeface="Arimo Bold"/>
                <a:sym typeface="Arimo Bold"/>
              </a:rPr>
              <a:t>Documentação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72675" y="3790625"/>
            <a:ext cx="3949950" cy="194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63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Repositório com +500 mil pacotes. Use pip install para instalar qualquer lib.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33956" y="3185108"/>
            <a:ext cx="446962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80"/>
              </a:lnSpc>
            </a:pPr>
            <a:r>
              <a:rPr lang="en-US" b="true" sz="34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📖  docs.python.org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11222" y="3912206"/>
            <a:ext cx="4392358" cy="14599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Documentação oficial, tutoriais, biblioteca padrão e referência da linguagem.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170355" y="3651833"/>
            <a:ext cx="3951150" cy="19457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63"/>
              </a:lnSpc>
            </a:pPr>
            <a:r>
              <a:rPr lang="en-US" sz="27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PEP 8 (estilo), PEP 20 (Zen), PEP 484 (type hints). Onde a linguagem evolui.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843179" y="5736392"/>
            <a:ext cx="2605501" cy="4654408"/>
          </a:xfrm>
          <a:custGeom>
            <a:avLst/>
            <a:gdLst/>
            <a:ahLst/>
            <a:cxnLst/>
            <a:rect r="r" b="b" t="t" l="l"/>
            <a:pathLst>
              <a:path h="4654408" w="2605501">
                <a:moveTo>
                  <a:pt x="0" y="0"/>
                </a:moveTo>
                <a:lnTo>
                  <a:pt x="2605502" y="0"/>
                </a:lnTo>
                <a:lnTo>
                  <a:pt x="2605502" y="4654408"/>
                </a:lnTo>
                <a:lnTo>
                  <a:pt x="0" y="46544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98872" y="5632572"/>
            <a:ext cx="3254184" cy="4654408"/>
          </a:xfrm>
          <a:custGeom>
            <a:avLst/>
            <a:gdLst/>
            <a:ahLst/>
            <a:cxnLst/>
            <a:rect r="r" b="b" t="t" l="l"/>
            <a:pathLst>
              <a:path h="4654408" w="3254184">
                <a:moveTo>
                  <a:pt x="0" y="0"/>
                </a:moveTo>
                <a:lnTo>
                  <a:pt x="3254184" y="0"/>
                </a:lnTo>
                <a:lnTo>
                  <a:pt x="3254184" y="4654408"/>
                </a:lnTo>
                <a:lnTo>
                  <a:pt x="0" y="465440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991410" y="5879267"/>
            <a:ext cx="3081705" cy="4407713"/>
          </a:xfrm>
          <a:custGeom>
            <a:avLst/>
            <a:gdLst/>
            <a:ahLst/>
            <a:cxnLst/>
            <a:rect r="r" b="b" t="t" l="l"/>
            <a:pathLst>
              <a:path h="4407713" w="3081705">
                <a:moveTo>
                  <a:pt x="0" y="0"/>
                </a:moveTo>
                <a:lnTo>
                  <a:pt x="3081705" y="0"/>
                </a:lnTo>
                <a:lnTo>
                  <a:pt x="3081705" y="4407713"/>
                </a:lnTo>
                <a:lnTo>
                  <a:pt x="0" y="44077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822633" y="2575508"/>
            <a:ext cx="4646594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b="true" sz="29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💬  PEP – Python Enhancement Proposals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75349" y="2718383"/>
            <a:ext cx="394995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🔍  PyPI – Python Package Index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281074" y="6165846"/>
            <a:ext cx="1717522" cy="1548206"/>
          </a:xfrm>
          <a:custGeom>
            <a:avLst/>
            <a:gdLst/>
            <a:ahLst/>
            <a:cxnLst/>
            <a:rect r="r" b="b" t="t" l="l"/>
            <a:pathLst>
              <a:path h="1548206" w="1717522">
                <a:moveTo>
                  <a:pt x="0" y="0"/>
                </a:moveTo>
                <a:lnTo>
                  <a:pt x="1717522" y="0"/>
                </a:lnTo>
                <a:lnTo>
                  <a:pt x="1717522" y="1548206"/>
                </a:lnTo>
                <a:lnTo>
                  <a:pt x="0" y="15482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8247903" y="6449570"/>
            <a:ext cx="1796054" cy="1510206"/>
          </a:xfrm>
          <a:custGeom>
            <a:avLst/>
            <a:gdLst/>
            <a:ahLst/>
            <a:cxnLst/>
            <a:rect r="r" b="b" t="t" l="l"/>
            <a:pathLst>
              <a:path h="1510206" w="1796054">
                <a:moveTo>
                  <a:pt x="0" y="0"/>
                </a:moveTo>
                <a:lnTo>
                  <a:pt x="1796054" y="0"/>
                </a:lnTo>
                <a:lnTo>
                  <a:pt x="1796054" y="1510206"/>
                </a:lnTo>
                <a:lnTo>
                  <a:pt x="0" y="151020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3032206" y="6257834"/>
            <a:ext cx="1901522" cy="1456218"/>
          </a:xfrm>
          <a:custGeom>
            <a:avLst/>
            <a:gdLst/>
            <a:ahLst/>
            <a:cxnLst/>
            <a:rect r="r" b="b" t="t" l="l"/>
            <a:pathLst>
              <a:path h="1456218" w="1901522">
                <a:moveTo>
                  <a:pt x="0" y="0"/>
                </a:moveTo>
                <a:lnTo>
                  <a:pt x="1901522" y="0"/>
                </a:lnTo>
                <a:lnTo>
                  <a:pt x="1901522" y="1456218"/>
                </a:lnTo>
                <a:lnTo>
                  <a:pt x="0" y="1456218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4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8600" y="2293489"/>
            <a:ext cx="16478409" cy="7993511"/>
          </a:xfrm>
          <a:custGeom>
            <a:avLst/>
            <a:gdLst/>
            <a:ahLst/>
            <a:cxnLst/>
            <a:rect r="r" b="b" t="t" l="l"/>
            <a:pathLst>
              <a:path h="7993511" w="16478409">
                <a:moveTo>
                  <a:pt x="0" y="0"/>
                </a:moveTo>
                <a:lnTo>
                  <a:pt x="16478409" y="0"/>
                </a:lnTo>
                <a:lnTo>
                  <a:pt x="16478409" y="7993511"/>
                </a:lnTo>
                <a:lnTo>
                  <a:pt x="0" y="79935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8" t="0" r="-138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919440" y="893126"/>
            <a:ext cx="2368560" cy="689478"/>
            <a:chOff x="0" y="0"/>
            <a:chExt cx="2211350" cy="64371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127"/>
              <a:ext cx="2211406" cy="643636"/>
            </a:xfrm>
            <a:custGeom>
              <a:avLst/>
              <a:gdLst/>
              <a:ahLst/>
              <a:cxnLst/>
              <a:rect r="r" b="b" t="t" l="l"/>
              <a:pathLst>
                <a:path h="643636" w="2211406">
                  <a:moveTo>
                    <a:pt x="0" y="0"/>
                  </a:moveTo>
                  <a:lnTo>
                    <a:pt x="0" y="643636"/>
                  </a:lnTo>
                  <a:lnTo>
                    <a:pt x="2211406" y="643636"/>
                  </a:lnTo>
                  <a:lnTo>
                    <a:pt x="2211406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  <p:sp>
        <p:nvSpPr>
          <p:cNvPr name="TextBox 5" id="5"/>
          <p:cNvSpPr txBox="true"/>
          <p:nvPr/>
        </p:nvSpPr>
        <p:spPr>
          <a:xfrm rot="0">
            <a:off x="88229" y="716430"/>
            <a:ext cx="16022450" cy="1703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95"/>
              </a:lnSpc>
            </a:pPr>
            <a:r>
              <a:rPr lang="en-US" b="true" sz="5496">
                <a:solidFill>
                  <a:srgbClr val="00FFC5"/>
                </a:solidFill>
                <a:latin typeface="Arimo Bold"/>
                <a:ea typeface="Arimo Bold"/>
                <a:cs typeface="Arimo Bold"/>
                <a:sym typeface="Arimo Bold"/>
              </a:rPr>
              <a:t>Ferramentas</a:t>
            </a:r>
            <a:r>
              <a:rPr lang="en-US" b="true" sz="5496">
                <a:solidFill>
                  <a:srgbClr val="00FFC5"/>
                </a:solidFill>
                <a:latin typeface="Arimo Bold"/>
                <a:ea typeface="Arimo Bold"/>
                <a:cs typeface="Arimo Bold"/>
                <a:sym typeface="Arimo Bold"/>
              </a:rPr>
              <a:t> &amp; Ambiente de Desenvolvimento</a:t>
            </a:r>
          </a:p>
          <a:p>
            <a:pPr algn="ctr">
              <a:lnSpc>
                <a:spcPts val="6595"/>
              </a:lnSpc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-1849044" y="1582604"/>
            <a:ext cx="3348897" cy="482786"/>
            <a:chOff x="0" y="0"/>
            <a:chExt cx="4465196" cy="64371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127"/>
              <a:ext cx="4465253" cy="643636"/>
            </a:xfrm>
            <a:custGeom>
              <a:avLst/>
              <a:gdLst/>
              <a:ahLst/>
              <a:cxnLst/>
              <a:rect r="r" b="b" t="t" l="l"/>
              <a:pathLst>
                <a:path h="643636" w="4465253">
                  <a:moveTo>
                    <a:pt x="0" y="0"/>
                  </a:moveTo>
                  <a:lnTo>
                    <a:pt x="0" y="643636"/>
                  </a:lnTo>
                  <a:lnTo>
                    <a:pt x="4465253" y="643636"/>
                  </a:lnTo>
                  <a:lnTo>
                    <a:pt x="4465253" y="0"/>
                  </a:lnTo>
                  <a:close/>
                </a:path>
              </a:pathLst>
            </a:custGeom>
            <a:solidFill>
              <a:srgbClr val="FFDE59"/>
            </a:solidFill>
          </p:spPr>
        </p:sp>
      </p:grpSp>
    </p:spTree>
  </p:cSld>
  <p:clrMapOvr>
    <a:masterClrMapping/>
  </p:clrMapOvr>
  <p:transition spd="slow">
    <p:circl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4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5379698"/>
            <a:ext cx="5541792" cy="2067060"/>
            <a:chOff x="0" y="0"/>
            <a:chExt cx="7389056" cy="27560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27" y="0"/>
              <a:ext cx="7388860" cy="2755646"/>
            </a:xfrm>
            <a:custGeom>
              <a:avLst/>
              <a:gdLst/>
              <a:ahLst/>
              <a:cxnLst/>
              <a:rect r="r" b="b" t="t" l="l"/>
              <a:pathLst>
                <a:path h="2755646" w="7388860">
                  <a:moveTo>
                    <a:pt x="0" y="0"/>
                  </a:moveTo>
                  <a:lnTo>
                    <a:pt x="0" y="2755646"/>
                  </a:lnTo>
                  <a:lnTo>
                    <a:pt x="7388860" y="2755646"/>
                  </a:lnTo>
                  <a:lnTo>
                    <a:pt x="7388860" y="0"/>
                  </a:lnTo>
                  <a:close/>
                </a:path>
              </a:pathLst>
            </a:custGeom>
            <a:solidFill>
              <a:srgbClr val="FFFFFF">
                <a:alpha val="1569"/>
              </a:srgbClr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2556316" cy="885646"/>
            <a:chOff x="0" y="0"/>
            <a:chExt cx="3408421" cy="118086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408426" cy="1180719"/>
            </a:xfrm>
            <a:custGeom>
              <a:avLst/>
              <a:gdLst/>
              <a:ahLst/>
              <a:cxnLst/>
              <a:rect r="r" b="b" t="t" l="l"/>
              <a:pathLst>
                <a:path h="1180719" w="3408426">
                  <a:moveTo>
                    <a:pt x="0" y="0"/>
                  </a:moveTo>
                  <a:lnTo>
                    <a:pt x="0" y="1180719"/>
                  </a:lnTo>
                  <a:lnTo>
                    <a:pt x="3408426" y="1180719"/>
                  </a:lnTo>
                  <a:lnTo>
                    <a:pt x="3408426" y="0"/>
                  </a:lnTo>
                  <a:close/>
                </a:path>
              </a:pathLst>
            </a:custGeom>
            <a:solidFill>
              <a:srgbClr val="EC008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647525" y="749250"/>
            <a:ext cx="12993150" cy="942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6000">
                <a:solidFill>
                  <a:srgbClr val="00FFC5"/>
                </a:solidFill>
                <a:latin typeface="Arimo Bold"/>
                <a:ea typeface="Arimo Bold"/>
                <a:cs typeface="Arimo Bold"/>
                <a:sym typeface="Arimo Bold"/>
              </a:rPr>
              <a:t>RESUMO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87800" y="1663650"/>
            <a:ext cx="3738750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Py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thon: interpretada, tipagemdinâmica, multi-paradigma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3005025" y="5819700"/>
            <a:ext cx="3738750" cy="92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9600">
                <a:solidFill>
                  <a:srgbClr val="00FFC5"/>
                </a:solidFill>
                <a:latin typeface="Arimo"/>
                <a:ea typeface="Arimo"/>
                <a:cs typeface="Arimo"/>
                <a:sym typeface="Arimo"/>
              </a:rPr>
              <a:t>___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565300" y="5379698"/>
            <a:ext cx="8722698" cy="4907300"/>
          </a:xfrm>
          <a:custGeom>
            <a:avLst/>
            <a:gdLst/>
            <a:ahLst/>
            <a:cxnLst/>
            <a:rect r="r" b="b" t="t" l="l"/>
            <a:pathLst>
              <a:path h="4907300" w="8722698">
                <a:moveTo>
                  <a:pt x="0" y="0"/>
                </a:moveTo>
                <a:lnTo>
                  <a:pt x="8722698" y="0"/>
                </a:lnTo>
                <a:lnTo>
                  <a:pt x="8722698" y="4907300"/>
                </a:lnTo>
                <a:lnTo>
                  <a:pt x="0" y="4907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6258196" y="2481016"/>
            <a:ext cx="2030076" cy="3896596"/>
          </a:xfrm>
          <a:custGeom>
            <a:avLst/>
            <a:gdLst/>
            <a:ahLst/>
            <a:cxnLst/>
            <a:rect r="r" b="b" t="t" l="l"/>
            <a:pathLst>
              <a:path h="3896596" w="2030076">
                <a:moveTo>
                  <a:pt x="0" y="0"/>
                </a:moveTo>
                <a:lnTo>
                  <a:pt x="2030076" y="0"/>
                </a:lnTo>
                <a:lnTo>
                  <a:pt x="2030076" y="3896596"/>
                </a:lnTo>
                <a:lnTo>
                  <a:pt x="0" y="38965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041409" y="1663650"/>
            <a:ext cx="3738750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ada em IA, Web, Data Science, Automação e muito mais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5826550" y="7800750"/>
            <a:ext cx="3738750" cy="2457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VS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Code + pip + venv + Black = ambiente profissional mínimo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7358051" y="1663650"/>
            <a:ext cx="3738750" cy="294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PEP 8: indent</a:t>
            </a:r>
            <a:r>
              <a:rPr lang="en-US" sz="32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ação, nomes, espaçamento — padronização é respeito</a:t>
            </a:r>
          </a:p>
          <a:p>
            <a:pPr algn="l">
              <a:lnSpc>
                <a:spcPts val="384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48176" y="5629050"/>
            <a:ext cx="5393616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9"/>
              </a:lnSpc>
            </a:pPr>
            <a:r>
              <a:rPr lang="en-US" sz="3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docs.py</a:t>
            </a:r>
            <a:r>
              <a:rPr lang="en-US" sz="35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thon.org é sempre o primeiro lugar para buscar!</a:t>
            </a:r>
          </a:p>
          <a:p>
            <a:pPr algn="l">
              <a:lnSpc>
                <a:spcPts val="4319"/>
              </a:lnSpc>
            </a:pPr>
          </a:p>
        </p:txBody>
      </p:sp>
      <p:sp>
        <p:nvSpPr>
          <p:cNvPr name="AutoShape 15" id="15"/>
          <p:cNvSpPr/>
          <p:nvPr/>
        </p:nvSpPr>
        <p:spPr>
          <a:xfrm>
            <a:off x="5926125" y="6265607"/>
            <a:ext cx="3923728" cy="72935"/>
          </a:xfrm>
          <a:prstGeom prst="line">
            <a:avLst/>
          </a:prstGeom>
          <a:ln cap="rnd" w="19050">
            <a:solidFill>
              <a:srgbClr val="A5B7C6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6" id="16"/>
          <p:cNvSpPr/>
          <p:nvPr/>
        </p:nvSpPr>
        <p:spPr>
          <a:xfrm>
            <a:off x="6035362" y="5520561"/>
            <a:ext cx="72935" cy="817978"/>
          </a:xfrm>
          <a:prstGeom prst="line">
            <a:avLst/>
          </a:prstGeom>
          <a:ln cap="rnd" w="19050">
            <a:solidFill>
              <a:srgbClr val="A5B7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5920810" y="5379698"/>
            <a:ext cx="731260" cy="254984"/>
            <a:chOff x="0" y="0"/>
            <a:chExt cx="819696" cy="28582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9658" cy="285877"/>
            </a:xfrm>
            <a:custGeom>
              <a:avLst/>
              <a:gdLst/>
              <a:ahLst/>
              <a:cxnLst/>
              <a:rect r="r" b="b" t="t" l="l"/>
              <a:pathLst>
                <a:path h="285877" w="819658">
                  <a:moveTo>
                    <a:pt x="0" y="0"/>
                  </a:moveTo>
                  <a:lnTo>
                    <a:pt x="819658" y="0"/>
                  </a:lnTo>
                  <a:lnTo>
                    <a:pt x="819658" y="285877"/>
                  </a:lnTo>
                  <a:lnTo>
                    <a:pt x="0" y="285877"/>
                  </a:lnTo>
                  <a:close/>
                </a:path>
              </a:pathLst>
            </a:custGeom>
            <a:solidFill>
              <a:srgbClr val="5F7D95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5826550" y="6083615"/>
            <a:ext cx="479339" cy="479339"/>
            <a:chOff x="0" y="0"/>
            <a:chExt cx="537308" cy="5373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37337" cy="537337"/>
            </a:xfrm>
            <a:custGeom>
              <a:avLst/>
              <a:gdLst/>
              <a:ahLst/>
              <a:cxnLst/>
              <a:rect r="r" b="b" t="t" l="l"/>
              <a:pathLst>
                <a:path h="537337" w="537337">
                  <a:moveTo>
                    <a:pt x="0" y="268605"/>
                  </a:moveTo>
                  <a:cubicBezTo>
                    <a:pt x="0" y="120269"/>
                    <a:pt x="120269" y="0"/>
                    <a:pt x="268605" y="0"/>
                  </a:cubicBezTo>
                  <a:cubicBezTo>
                    <a:pt x="416941" y="0"/>
                    <a:pt x="537337" y="120269"/>
                    <a:pt x="537337" y="268605"/>
                  </a:cubicBezTo>
                  <a:cubicBezTo>
                    <a:pt x="537337" y="416941"/>
                    <a:pt x="417068" y="537337"/>
                    <a:pt x="268605" y="537337"/>
                  </a:cubicBezTo>
                  <a:cubicBezTo>
                    <a:pt x="120142" y="537337"/>
                    <a:pt x="0" y="417068"/>
                    <a:pt x="0" y="268605"/>
                  </a:cubicBezTo>
                  <a:close/>
                </a:path>
              </a:pathLst>
            </a:custGeom>
            <a:solidFill>
              <a:srgbClr val="5F7D95"/>
            </a:solidFill>
          </p:spPr>
        </p:sp>
      </p:grpSp>
      <p:sp>
        <p:nvSpPr>
          <p:cNvPr name="AutoShape 21" id="21"/>
          <p:cNvSpPr/>
          <p:nvPr/>
        </p:nvSpPr>
        <p:spPr>
          <a:xfrm>
            <a:off x="6958711" y="6327058"/>
            <a:ext cx="72935" cy="817978"/>
          </a:xfrm>
          <a:prstGeom prst="line">
            <a:avLst/>
          </a:prstGeom>
          <a:ln cap="rnd" w="19050">
            <a:solidFill>
              <a:srgbClr val="A5B7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2" id="22"/>
          <p:cNvGrpSpPr/>
          <p:nvPr/>
        </p:nvGrpSpPr>
        <p:grpSpPr>
          <a:xfrm rot="0">
            <a:off x="6843632" y="6928569"/>
            <a:ext cx="731260" cy="254984"/>
            <a:chOff x="0" y="0"/>
            <a:chExt cx="819696" cy="28582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9658" cy="285877"/>
            </a:xfrm>
            <a:custGeom>
              <a:avLst/>
              <a:gdLst/>
              <a:ahLst/>
              <a:cxnLst/>
              <a:rect r="r" b="b" t="t" l="l"/>
              <a:pathLst>
                <a:path h="285877" w="819658">
                  <a:moveTo>
                    <a:pt x="0" y="0"/>
                  </a:moveTo>
                  <a:lnTo>
                    <a:pt x="819658" y="0"/>
                  </a:lnTo>
                  <a:lnTo>
                    <a:pt x="819658" y="285877"/>
                  </a:lnTo>
                  <a:lnTo>
                    <a:pt x="0" y="285877"/>
                  </a:lnTo>
                  <a:close/>
                </a:path>
              </a:pathLst>
            </a:custGeom>
            <a:solidFill>
              <a:srgbClr val="5F7D95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748058" y="6102086"/>
            <a:ext cx="479339" cy="479339"/>
            <a:chOff x="0" y="0"/>
            <a:chExt cx="537308" cy="53730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37337" cy="537337"/>
            </a:xfrm>
            <a:custGeom>
              <a:avLst/>
              <a:gdLst/>
              <a:ahLst/>
              <a:cxnLst/>
              <a:rect r="r" b="b" t="t" l="l"/>
              <a:pathLst>
                <a:path h="537337" w="537337">
                  <a:moveTo>
                    <a:pt x="0" y="268605"/>
                  </a:moveTo>
                  <a:cubicBezTo>
                    <a:pt x="0" y="120269"/>
                    <a:pt x="120269" y="0"/>
                    <a:pt x="268605" y="0"/>
                  </a:cubicBezTo>
                  <a:cubicBezTo>
                    <a:pt x="416941" y="0"/>
                    <a:pt x="537337" y="120269"/>
                    <a:pt x="537337" y="268605"/>
                  </a:cubicBezTo>
                  <a:cubicBezTo>
                    <a:pt x="537337" y="416941"/>
                    <a:pt x="417068" y="537337"/>
                    <a:pt x="268605" y="537337"/>
                  </a:cubicBezTo>
                  <a:cubicBezTo>
                    <a:pt x="120142" y="537337"/>
                    <a:pt x="0" y="417068"/>
                    <a:pt x="0" y="268605"/>
                  </a:cubicBezTo>
                  <a:close/>
                </a:path>
              </a:pathLst>
            </a:custGeom>
            <a:solidFill>
              <a:srgbClr val="5F7D95"/>
            </a:solidFill>
          </p:spPr>
        </p:sp>
      </p:grpSp>
      <p:sp>
        <p:nvSpPr>
          <p:cNvPr name="AutoShape 26" id="26"/>
          <p:cNvSpPr/>
          <p:nvPr/>
        </p:nvSpPr>
        <p:spPr>
          <a:xfrm>
            <a:off x="7881673" y="5520561"/>
            <a:ext cx="72935" cy="817978"/>
          </a:xfrm>
          <a:prstGeom prst="line">
            <a:avLst/>
          </a:prstGeom>
          <a:ln cap="rnd" w="19050">
            <a:solidFill>
              <a:srgbClr val="A5B7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7767123" y="5379698"/>
            <a:ext cx="731260" cy="254984"/>
            <a:chOff x="0" y="0"/>
            <a:chExt cx="819696" cy="28582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19658" cy="285877"/>
            </a:xfrm>
            <a:custGeom>
              <a:avLst/>
              <a:gdLst/>
              <a:ahLst/>
              <a:cxnLst/>
              <a:rect r="r" b="b" t="t" l="l"/>
              <a:pathLst>
                <a:path h="285877" w="819658">
                  <a:moveTo>
                    <a:pt x="0" y="0"/>
                  </a:moveTo>
                  <a:lnTo>
                    <a:pt x="819658" y="0"/>
                  </a:lnTo>
                  <a:lnTo>
                    <a:pt x="819658" y="285877"/>
                  </a:lnTo>
                  <a:lnTo>
                    <a:pt x="0" y="285877"/>
                  </a:lnTo>
                  <a:close/>
                </a:path>
              </a:pathLst>
            </a:custGeom>
            <a:solidFill>
              <a:srgbClr val="5F7D95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7669566" y="6083615"/>
            <a:ext cx="479339" cy="479339"/>
            <a:chOff x="0" y="0"/>
            <a:chExt cx="537308" cy="53730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7337" cy="537337"/>
            </a:xfrm>
            <a:custGeom>
              <a:avLst/>
              <a:gdLst/>
              <a:ahLst/>
              <a:cxnLst/>
              <a:rect r="r" b="b" t="t" l="l"/>
              <a:pathLst>
                <a:path h="537337" w="537337">
                  <a:moveTo>
                    <a:pt x="0" y="268605"/>
                  </a:moveTo>
                  <a:cubicBezTo>
                    <a:pt x="0" y="120269"/>
                    <a:pt x="120269" y="0"/>
                    <a:pt x="268605" y="0"/>
                  </a:cubicBezTo>
                  <a:cubicBezTo>
                    <a:pt x="416941" y="0"/>
                    <a:pt x="537337" y="120269"/>
                    <a:pt x="537337" y="268605"/>
                  </a:cubicBezTo>
                  <a:cubicBezTo>
                    <a:pt x="537337" y="416941"/>
                    <a:pt x="417068" y="537337"/>
                    <a:pt x="268605" y="537337"/>
                  </a:cubicBezTo>
                  <a:cubicBezTo>
                    <a:pt x="120142" y="537337"/>
                    <a:pt x="0" y="417068"/>
                    <a:pt x="0" y="268605"/>
                  </a:cubicBezTo>
                  <a:close/>
                </a:path>
              </a:pathLst>
            </a:custGeom>
            <a:solidFill>
              <a:srgbClr val="5F7D95"/>
            </a:solidFill>
          </p:spPr>
        </p:sp>
      </p:grpSp>
      <p:sp>
        <p:nvSpPr>
          <p:cNvPr name="AutoShape 31" id="31"/>
          <p:cNvSpPr/>
          <p:nvPr/>
        </p:nvSpPr>
        <p:spPr>
          <a:xfrm>
            <a:off x="8794130" y="6321698"/>
            <a:ext cx="72935" cy="823338"/>
          </a:xfrm>
          <a:prstGeom prst="line">
            <a:avLst/>
          </a:prstGeom>
          <a:ln cap="rnd" w="19050">
            <a:solidFill>
              <a:srgbClr val="A5B7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2" id="32"/>
          <p:cNvGrpSpPr/>
          <p:nvPr/>
        </p:nvGrpSpPr>
        <p:grpSpPr>
          <a:xfrm rot="0">
            <a:off x="8690127" y="6928569"/>
            <a:ext cx="731260" cy="254984"/>
            <a:chOff x="0" y="0"/>
            <a:chExt cx="819696" cy="28582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19658" cy="285877"/>
            </a:xfrm>
            <a:custGeom>
              <a:avLst/>
              <a:gdLst/>
              <a:ahLst/>
              <a:cxnLst/>
              <a:rect r="r" b="b" t="t" l="l"/>
              <a:pathLst>
                <a:path h="285877" w="819658">
                  <a:moveTo>
                    <a:pt x="0" y="0"/>
                  </a:moveTo>
                  <a:lnTo>
                    <a:pt x="819658" y="0"/>
                  </a:lnTo>
                  <a:lnTo>
                    <a:pt x="819658" y="285877"/>
                  </a:lnTo>
                  <a:lnTo>
                    <a:pt x="0" y="285877"/>
                  </a:lnTo>
                  <a:close/>
                </a:path>
              </a:pathLst>
            </a:custGeom>
            <a:solidFill>
              <a:srgbClr val="5F7D95"/>
            </a:solid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591074" y="6062542"/>
            <a:ext cx="479339" cy="479339"/>
            <a:chOff x="0" y="0"/>
            <a:chExt cx="537308" cy="53730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37337" cy="537337"/>
            </a:xfrm>
            <a:custGeom>
              <a:avLst/>
              <a:gdLst/>
              <a:ahLst/>
              <a:cxnLst/>
              <a:rect r="r" b="b" t="t" l="l"/>
              <a:pathLst>
                <a:path h="537337" w="537337">
                  <a:moveTo>
                    <a:pt x="0" y="268605"/>
                  </a:moveTo>
                  <a:cubicBezTo>
                    <a:pt x="0" y="120269"/>
                    <a:pt x="120269" y="0"/>
                    <a:pt x="268605" y="0"/>
                  </a:cubicBezTo>
                  <a:cubicBezTo>
                    <a:pt x="416941" y="0"/>
                    <a:pt x="537337" y="120269"/>
                    <a:pt x="537337" y="268605"/>
                  </a:cubicBezTo>
                  <a:cubicBezTo>
                    <a:pt x="537337" y="416941"/>
                    <a:pt x="417068" y="537337"/>
                    <a:pt x="268605" y="537337"/>
                  </a:cubicBezTo>
                  <a:cubicBezTo>
                    <a:pt x="120142" y="537337"/>
                    <a:pt x="0" y="417068"/>
                    <a:pt x="0" y="268605"/>
                  </a:cubicBezTo>
                  <a:close/>
                </a:path>
              </a:pathLst>
            </a:custGeom>
            <a:solidFill>
              <a:srgbClr val="5F7D95"/>
            </a:solid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11296826" y="1909837"/>
            <a:ext cx="1542151" cy="1214438"/>
          </a:xfrm>
          <a:custGeom>
            <a:avLst/>
            <a:gdLst/>
            <a:ahLst/>
            <a:cxnLst/>
            <a:rect r="r" b="b" t="t" l="l"/>
            <a:pathLst>
              <a:path h="1214438" w="1542151">
                <a:moveTo>
                  <a:pt x="0" y="0"/>
                </a:moveTo>
                <a:lnTo>
                  <a:pt x="1542152" y="0"/>
                </a:lnTo>
                <a:lnTo>
                  <a:pt x="1542152" y="1214438"/>
                </a:lnTo>
                <a:lnTo>
                  <a:pt x="0" y="12144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525463" y="1692225"/>
            <a:ext cx="1006474" cy="1005567"/>
          </a:xfrm>
          <a:custGeom>
            <a:avLst/>
            <a:gdLst/>
            <a:ahLst/>
            <a:cxnLst/>
            <a:rect r="r" b="b" t="t" l="l"/>
            <a:pathLst>
              <a:path h="1005567" w="1006474">
                <a:moveTo>
                  <a:pt x="0" y="0"/>
                </a:moveTo>
                <a:lnTo>
                  <a:pt x="1006474" y="0"/>
                </a:lnTo>
                <a:lnTo>
                  <a:pt x="1006474" y="1005567"/>
                </a:lnTo>
                <a:lnTo>
                  <a:pt x="0" y="100556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5926125" y="1957211"/>
            <a:ext cx="1167999" cy="1167064"/>
          </a:xfrm>
          <a:custGeom>
            <a:avLst/>
            <a:gdLst/>
            <a:ahLst/>
            <a:cxnLst/>
            <a:rect r="r" b="b" t="t" l="l"/>
            <a:pathLst>
              <a:path h="1167064" w="1167999">
                <a:moveTo>
                  <a:pt x="0" y="0"/>
                </a:moveTo>
                <a:lnTo>
                  <a:pt x="1167999" y="0"/>
                </a:lnTo>
                <a:lnTo>
                  <a:pt x="1167999" y="1167064"/>
                </a:lnTo>
                <a:lnTo>
                  <a:pt x="0" y="116706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cover dir="rd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14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24568" y="3447286"/>
            <a:ext cx="3563412" cy="6839734"/>
          </a:xfrm>
          <a:custGeom>
            <a:avLst/>
            <a:gdLst/>
            <a:ahLst/>
            <a:cxnLst/>
            <a:rect r="r" b="b" t="t" l="l"/>
            <a:pathLst>
              <a:path h="6839734" w="3563412">
                <a:moveTo>
                  <a:pt x="0" y="0"/>
                </a:moveTo>
                <a:lnTo>
                  <a:pt x="3563412" y="0"/>
                </a:lnTo>
                <a:lnTo>
                  <a:pt x="3563412" y="6839734"/>
                </a:lnTo>
                <a:lnTo>
                  <a:pt x="0" y="6839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924764" y="0"/>
            <a:ext cx="5443736" cy="774840"/>
            <a:chOff x="0" y="0"/>
            <a:chExt cx="7258315" cy="10331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" y="127"/>
              <a:ext cx="7258177" cy="1032764"/>
            </a:xfrm>
            <a:custGeom>
              <a:avLst/>
              <a:gdLst/>
              <a:ahLst/>
              <a:cxnLst/>
              <a:rect r="r" b="b" t="t" l="l"/>
              <a:pathLst>
                <a:path h="1032764" w="7258177">
                  <a:moveTo>
                    <a:pt x="0" y="0"/>
                  </a:moveTo>
                  <a:lnTo>
                    <a:pt x="0" y="1032764"/>
                  </a:lnTo>
                  <a:lnTo>
                    <a:pt x="7258177" y="1032764"/>
                  </a:lnTo>
                  <a:lnTo>
                    <a:pt x="7258177" y="0"/>
                  </a:lnTo>
                  <a:close/>
                </a:path>
              </a:pathLst>
            </a:custGeom>
            <a:solidFill>
              <a:srgbClr val="00FFC5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747626" y="0"/>
            <a:ext cx="1329294" cy="774840"/>
            <a:chOff x="0" y="0"/>
            <a:chExt cx="1772392" cy="103312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27" y="127"/>
              <a:ext cx="1772031" cy="1032764"/>
            </a:xfrm>
            <a:custGeom>
              <a:avLst/>
              <a:gdLst/>
              <a:ahLst/>
              <a:cxnLst/>
              <a:rect r="r" b="b" t="t" l="l"/>
              <a:pathLst>
                <a:path h="1032764" w="1772031">
                  <a:moveTo>
                    <a:pt x="0" y="0"/>
                  </a:moveTo>
                  <a:lnTo>
                    <a:pt x="0" y="1032764"/>
                  </a:lnTo>
                  <a:lnTo>
                    <a:pt x="1772031" y="1032764"/>
                  </a:lnTo>
                  <a:lnTo>
                    <a:pt x="1772031" y="0"/>
                  </a:lnTo>
                  <a:close/>
                </a:path>
              </a:pathLst>
            </a:custGeom>
            <a:solidFill>
              <a:srgbClr val="EC008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2098268" y="1877232"/>
            <a:ext cx="424196" cy="771552"/>
            <a:chOff x="0" y="0"/>
            <a:chExt cx="565595" cy="102873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127" y="127"/>
              <a:ext cx="565277" cy="1028573"/>
            </a:xfrm>
            <a:custGeom>
              <a:avLst/>
              <a:gdLst/>
              <a:ahLst/>
              <a:cxnLst/>
              <a:rect r="r" b="b" t="t" l="l"/>
              <a:pathLst>
                <a:path h="1028573" w="565277">
                  <a:moveTo>
                    <a:pt x="408813" y="0"/>
                  </a:moveTo>
                  <a:lnTo>
                    <a:pt x="0" y="963168"/>
                  </a:lnTo>
                  <a:lnTo>
                    <a:pt x="154432" y="1028573"/>
                  </a:lnTo>
                  <a:lnTo>
                    <a:pt x="565277" y="67437"/>
                  </a:lnTo>
                  <a:lnTo>
                    <a:pt x="408813" y="0"/>
                  </a:lnTo>
                  <a:close/>
                </a:path>
              </a:pathLst>
            </a:custGeom>
            <a:solidFill>
              <a:srgbClr val="00FFC5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1747626" y="2017490"/>
            <a:ext cx="334480" cy="491038"/>
            <a:chOff x="0" y="0"/>
            <a:chExt cx="445973" cy="6547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27" y="127"/>
              <a:ext cx="445897" cy="654558"/>
            </a:xfrm>
            <a:custGeom>
              <a:avLst/>
              <a:gdLst/>
              <a:ahLst/>
              <a:cxnLst/>
              <a:rect r="r" b="b" t="t" l="l"/>
              <a:pathLst>
                <a:path h="654558" w="445897">
                  <a:moveTo>
                    <a:pt x="326263" y="0"/>
                  </a:moveTo>
                  <a:lnTo>
                    <a:pt x="0" y="326263"/>
                  </a:lnTo>
                  <a:lnTo>
                    <a:pt x="326263" y="654558"/>
                  </a:lnTo>
                  <a:lnTo>
                    <a:pt x="445897" y="534924"/>
                  </a:lnTo>
                  <a:lnTo>
                    <a:pt x="237109" y="326263"/>
                  </a:lnTo>
                  <a:lnTo>
                    <a:pt x="445897" y="119634"/>
                  </a:lnTo>
                  <a:lnTo>
                    <a:pt x="326263" y="0"/>
                  </a:lnTo>
                  <a:close/>
                </a:path>
              </a:pathLst>
            </a:custGeom>
            <a:solidFill>
              <a:srgbClr val="00FFC5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536984" y="2017490"/>
            <a:ext cx="336124" cy="491038"/>
            <a:chOff x="0" y="0"/>
            <a:chExt cx="448165" cy="65471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127"/>
              <a:ext cx="447929" cy="654558"/>
            </a:xfrm>
            <a:custGeom>
              <a:avLst/>
              <a:gdLst/>
              <a:ahLst/>
              <a:cxnLst/>
              <a:rect r="r" b="b" t="t" l="l"/>
              <a:pathLst>
                <a:path h="654558" w="447929">
                  <a:moveTo>
                    <a:pt x="119634" y="0"/>
                  </a:moveTo>
                  <a:lnTo>
                    <a:pt x="0" y="119634"/>
                  </a:lnTo>
                  <a:lnTo>
                    <a:pt x="208788" y="326263"/>
                  </a:lnTo>
                  <a:lnTo>
                    <a:pt x="0" y="534924"/>
                  </a:lnTo>
                  <a:lnTo>
                    <a:pt x="119634" y="654558"/>
                  </a:lnTo>
                  <a:lnTo>
                    <a:pt x="447929" y="326263"/>
                  </a:lnTo>
                  <a:lnTo>
                    <a:pt x="119634" y="0"/>
                  </a:lnTo>
                  <a:close/>
                </a:path>
              </a:pathLst>
            </a:custGeom>
            <a:solidFill>
              <a:srgbClr val="00FFC5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032040" y="9967194"/>
            <a:ext cx="2108790" cy="319824"/>
            <a:chOff x="0" y="0"/>
            <a:chExt cx="2811720" cy="4264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27" y="127"/>
              <a:ext cx="2811399" cy="426339"/>
            </a:xfrm>
            <a:custGeom>
              <a:avLst/>
              <a:gdLst/>
              <a:ahLst/>
              <a:cxnLst/>
              <a:rect r="r" b="b" t="t" l="l"/>
              <a:pathLst>
                <a:path h="426339" w="2811399">
                  <a:moveTo>
                    <a:pt x="0" y="0"/>
                  </a:moveTo>
                  <a:lnTo>
                    <a:pt x="0" y="426339"/>
                  </a:lnTo>
                  <a:lnTo>
                    <a:pt x="2811399" y="426339"/>
                  </a:lnTo>
                  <a:lnTo>
                    <a:pt x="2811399" y="0"/>
                  </a:lnTo>
                  <a:close/>
                </a:path>
              </a:pathLst>
            </a:custGeom>
            <a:solidFill>
              <a:srgbClr val="00FFC5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320682" y="9967194"/>
            <a:ext cx="4305378" cy="319824"/>
            <a:chOff x="0" y="0"/>
            <a:chExt cx="5740504" cy="4264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127"/>
              <a:ext cx="5740527" cy="426339"/>
            </a:xfrm>
            <a:custGeom>
              <a:avLst/>
              <a:gdLst/>
              <a:ahLst/>
              <a:cxnLst/>
              <a:rect r="r" b="b" t="t" l="l"/>
              <a:pathLst>
                <a:path h="426339" w="5740527">
                  <a:moveTo>
                    <a:pt x="0" y="0"/>
                  </a:moveTo>
                  <a:lnTo>
                    <a:pt x="0" y="426339"/>
                  </a:lnTo>
                  <a:lnTo>
                    <a:pt x="5740527" y="426339"/>
                  </a:lnTo>
                  <a:lnTo>
                    <a:pt x="5740527" y="0"/>
                  </a:lnTo>
                  <a:close/>
                </a:path>
              </a:pathLst>
            </a:custGeom>
            <a:solidFill>
              <a:srgbClr val="EC008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3610666" y="8904034"/>
            <a:ext cx="7501846" cy="321332"/>
            <a:chOff x="0" y="0"/>
            <a:chExt cx="10002461" cy="4284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02266" cy="428498"/>
            </a:xfrm>
            <a:custGeom>
              <a:avLst/>
              <a:gdLst/>
              <a:ahLst/>
              <a:cxnLst/>
              <a:rect r="r" b="b" t="t" l="l"/>
              <a:pathLst>
                <a:path h="428498" w="10002266">
                  <a:moveTo>
                    <a:pt x="0" y="0"/>
                  </a:moveTo>
                  <a:lnTo>
                    <a:pt x="0" y="428498"/>
                  </a:lnTo>
                  <a:lnTo>
                    <a:pt x="10002266" y="428498"/>
                  </a:lnTo>
                  <a:lnTo>
                    <a:pt x="10002266" y="0"/>
                  </a:lnTo>
                  <a:close/>
                </a:path>
              </a:pathLst>
            </a:custGeom>
            <a:solidFill>
              <a:srgbClr val="EC008C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0" y="8904034"/>
            <a:ext cx="2981290" cy="321332"/>
            <a:chOff x="0" y="0"/>
            <a:chExt cx="3975053" cy="4284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27" y="0"/>
              <a:ext cx="3974719" cy="428498"/>
            </a:xfrm>
            <a:custGeom>
              <a:avLst/>
              <a:gdLst/>
              <a:ahLst/>
              <a:cxnLst/>
              <a:rect r="r" b="b" t="t" l="l"/>
              <a:pathLst>
                <a:path h="428498" w="3974719">
                  <a:moveTo>
                    <a:pt x="0" y="0"/>
                  </a:moveTo>
                  <a:lnTo>
                    <a:pt x="0" y="428498"/>
                  </a:lnTo>
                  <a:lnTo>
                    <a:pt x="3974719" y="428498"/>
                  </a:lnTo>
                  <a:lnTo>
                    <a:pt x="3974719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92186" y="9435614"/>
            <a:ext cx="6436906" cy="321468"/>
            <a:chOff x="0" y="0"/>
            <a:chExt cx="8582541" cy="4286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127"/>
              <a:ext cx="8582406" cy="428371"/>
            </a:xfrm>
            <a:custGeom>
              <a:avLst/>
              <a:gdLst/>
              <a:ahLst/>
              <a:cxnLst/>
              <a:rect r="r" b="b" t="t" l="l"/>
              <a:pathLst>
                <a:path h="428371" w="8582406">
                  <a:moveTo>
                    <a:pt x="0" y="0"/>
                  </a:moveTo>
                  <a:lnTo>
                    <a:pt x="0" y="428371"/>
                  </a:lnTo>
                  <a:lnTo>
                    <a:pt x="8582406" y="428371"/>
                  </a:lnTo>
                  <a:lnTo>
                    <a:pt x="8582406" y="0"/>
                  </a:lnTo>
                  <a:close/>
                </a:path>
              </a:pathLst>
            </a:custGeom>
            <a:solidFill>
              <a:srgbClr val="00FFC5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0" y="9435614"/>
            <a:ext cx="729092" cy="321468"/>
            <a:chOff x="0" y="0"/>
            <a:chExt cx="972123" cy="4286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27" y="127"/>
              <a:ext cx="972058" cy="428371"/>
            </a:xfrm>
            <a:custGeom>
              <a:avLst/>
              <a:gdLst/>
              <a:ahLst/>
              <a:cxnLst/>
              <a:rect r="r" b="b" t="t" l="l"/>
              <a:pathLst>
                <a:path h="428371" w="972058">
                  <a:moveTo>
                    <a:pt x="0" y="0"/>
                  </a:moveTo>
                  <a:lnTo>
                    <a:pt x="0" y="428371"/>
                  </a:lnTo>
                  <a:lnTo>
                    <a:pt x="972058" y="428371"/>
                  </a:lnTo>
                  <a:lnTo>
                    <a:pt x="972058" y="0"/>
                  </a:lnTo>
                  <a:close/>
                </a:path>
              </a:pathLst>
            </a:custGeom>
            <a:solidFill>
              <a:srgbClr val="EC008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0" y="9967194"/>
            <a:ext cx="1657064" cy="319824"/>
            <a:chOff x="0" y="0"/>
            <a:chExt cx="2209419" cy="42643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27" y="127"/>
              <a:ext cx="2209292" cy="426339"/>
            </a:xfrm>
            <a:custGeom>
              <a:avLst/>
              <a:gdLst/>
              <a:ahLst/>
              <a:cxnLst/>
              <a:rect r="r" b="b" t="t" l="l"/>
              <a:pathLst>
                <a:path h="426339" w="2209292">
                  <a:moveTo>
                    <a:pt x="0" y="0"/>
                  </a:moveTo>
                  <a:lnTo>
                    <a:pt x="0" y="426339"/>
                  </a:lnTo>
                  <a:lnTo>
                    <a:pt x="2209292" y="426339"/>
                  </a:lnTo>
                  <a:lnTo>
                    <a:pt x="220929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364546" y="3393948"/>
            <a:ext cx="16858350" cy="3775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07"/>
              </a:lnSpc>
            </a:pPr>
            <a:r>
              <a:rPr lang="en-US" b="true" sz="148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Obrigado pela atenção!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11655" y="7349173"/>
            <a:ext cx="16858350" cy="811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32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Trabalho realizado por: Guilherme Lima do Nascimento  e</a:t>
            </a:r>
          </a:p>
          <a:p>
            <a:pPr algn="l">
              <a:lnSpc>
                <a:spcPts val="3072"/>
              </a:lnSpc>
            </a:pPr>
            <a:r>
              <a:rPr lang="en-US" b="true" sz="320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Thiago Iaras Gonçalves 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DAHKzisrj0g</dc:identifier>
  <dcterms:modified xsi:type="dcterms:W3CDTF">2011-08-01T06:04:30Z</dcterms:modified>
  <cp:revision>1</cp:revision>
  <dc:title>Boas práticas de programação em Python.pptx</dc:title>
</cp:coreProperties>
</file>